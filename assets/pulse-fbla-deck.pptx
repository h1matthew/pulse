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FELIX (0:00-0:30)</a:t>
            </a:r>
          </a:p>
          <a:p/>
          <a:p>
            <a:r>
              <a:t>Good morning, judges. I'm Felix Yin, and with me are Oscar Gao and Matthew Heng from Diamond Bar FBLA. For the "Byte-Sized Business Boost" topic we built Pulse — a web platform that helps people discover small local businesses, and then shows them exactly how their spending strengthens their own community. Discovery gets a customer in the door once; visible impact brings them back. That second half is what makes Pulse different.</a:t>
            </a:r>
          </a:p>
          <a:p/>
          <a:p>
            <a:r>
              <a:t>Handoff: "Oscar will show you the problem we started from."</a:t>
            </a:r>
          </a:p>
          <a:p/>
          <a:p>
            <a:r>
              <a:t>[Assets: Lucide icons (ISC); Pulse logo (original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OSCAR (0:30-1:10)</a:t>
            </a:r>
          </a:p>
          <a:p/>
          <a:p>
            <a:r>
              <a:t>Research shows 68 cents of every dollar spent locally recirculates in the community — versus just 43 cents at a national chain. Yet small businesses keep losing customers to chains, because they have no shared platform for discovery. Pulse answers every requirement of the prompt: users browse businesses sorted by category, leave reviews and ratings, sort by those ratings, bookmark favorites, claim deals and coupons, and every submission passes bot verification. On top of that foundation we added an AI assistant and a live economic-impact dashboard — you'll see all of it today.</a:t>
            </a:r>
          </a:p>
          <a:p/>
          <a:p>
            <a:r>
              <a:t>Handoff: "Felix will explain the technology choices behind it."</a:t>
            </a:r>
          </a:p>
          <a:p/>
          <a:p>
            <a:r>
              <a:t>[Assets: app screenshot (original); business data via Google Places, attributed]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FELIX (1:10-1:45)</a:t>
            </a:r>
          </a:p>
          <a:p/>
          <a:p>
            <a:r>
              <a:t>We chose TypeScript with Next.js. TypeScript's static type system catches entire classes of bugs at compile time — null references, wrong argument types — before they ever reach a judge's screen, and strict mode is enabled in our compiler config. Next.js gives us server-side rendering for fast first paint, file-based API routes so we don't maintain a separate backend, and React's component model for the UI. We weighed Python with Flask — simpler, but no end-to-end type safety across client and server — and chose the industry-standard production stack used by companies like Netflix and Vercel.</a:t>
            </a:r>
          </a:p>
          <a:p/>
          <a:p>
            <a:r>
              <a:t>Handoff: "Matthew will walk through how the code is organized."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MATTHEW (1:45-2:20)</a:t>
            </a:r>
          </a:p>
          <a:p/>
          <a:p>
            <a:r>
              <a:t>The codebase is organized by responsibility, which you can see in this structure. Pages and API routes live in app, reusable components are grouped by feature, all data fetching is isolated in React Query hooks, shared utilities in lib, and every data shape is a TypeScript interface in types. At the root, four nested providers — theme, server-state, authentication, and accessibility — each do exactly one job. Behind it all sits Supabase PostgreSQL with row-level security, so authorization is enforced in the database itself, not just in our code.</a:t>
            </a:r>
          </a:p>
          <a:p/>
          <a:p>
            <a:r>
              <a:t>Handoff: "Felix will zoom into the code itself."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FELIX (2:20-2:50)</a:t>
            </a:r>
          </a:p>
          <a:p/>
          <a:p>
            <a:r>
              <a:t>Every significant file opens with the same four-section comment header: User Journey, Input Validation, Accessibility, and Design Rationale — here it is on our reviews API. Naming follows one convention everywhere: PascalCase components, camelCase utilities, typed named exports. The point isn't decoration — a teammate can open any file cold and know what it does, what it checks, and why it's built that way.</a:t>
            </a:r>
          </a:p>
          <a:p/>
          <a:p>
            <a:r>
              <a:t>Handoff: "Oscar will cover the user experience."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OSCAR (2:50-3:25)</a:t>
            </a:r>
          </a:p>
          <a:p/>
          <a:p>
            <a:r>
              <a:t>We designed for everyone. The user journey is three steps — discover, engage, see your impact — and the persistent header reaches every feature in one click. Accessibility is engineered, not assumed: a skip-to-content link for keyboard users, focus trapping inside dialogs, screen-reader announcements through live regions, WCAG-compliant contrast in light and dark mode, and the app honors your system's reduced-motion setting. A built-in onboarding tour and help menu mean nobody needs a manual.</a:t>
            </a:r>
          </a:p>
          <a:p/>
          <a:p>
            <a:r>
              <a:t>Handoff: "Now the part we're most excited about — Matthew, take it away."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MATTHEW (3:25-5:25) — THIS SLIDE STAYS UP DURING THE LIVE DEMO</a:t>
            </a:r>
          </a:p>
          <a:p/>
          <a:p>
            <a:r>
              <a:t>Follow DEMO_SCRIPT.md click-by-click. Narration: Here's Pulse running live. On Discover, these category pills filter instantly — Food &amp; Drink, Retail, Services — that's sort by category. The sort menu ranks by highest rated, weighted by review volume, so one five-star review can't beat a hundred. On a business page I'll leave a review — four stars, my feedback — and before submitting I complete this puzzle: bot verification, validated again on the server. Tapping the heart bookmarks a favorite; here's my saved list. The Deals page shows live coupons — I claim one and get a redemption code under my Claimed tab. Finally, my dashboard: dollars kept local, businesses supported — and this customizable impact report filters by date and category, downloads as CSV, and prints clean. Every required feature, live, with zero errors.</a:t>
            </a:r>
          </a:p>
          <a:p/>
          <a:p>
            <a:r>
              <a:t>Handoff: "Felix will show you the intelligence underneath."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FELIX (5:25-5:55)</a:t>
            </a:r>
          </a:p>
          <a:p/>
          <a:p>
            <a:r>
              <a:t>Our assistant uses retrieval-augmented generation. When you ask for "a cozy coffee shop with wifi," we extract keywords, detect the category and amenities, pull matching businesses from our own database, and only then hand that context to Google's Gemini model — so answers cite real local businesses, never hallucinated ones. Prompt-injection filters sanitize every query before it reaches the model.</a:t>
            </a:r>
          </a:p>
          <a:p/>
          <a:p>
            <a:r>
              <a:t>Handoff: "Oscar — how we keep bad data out."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OSCAR (5:55-6:15)</a:t>
            </a:r>
          </a:p>
          <a:p/>
          <a:p>
            <a:r>
              <a:t>Validation happens twice. Syntactic — Zod schemas verify format: ratings must be integers one through five, reviews ten to two thousand characters, IDs valid UUIDs. Semantic — the server checks meaning: duplicate reviews are rejected with a clear message, CAPTCHA tokens re-verified. Friendly errors, never crashes.</a:t>
            </a:r>
          </a:p>
          <a:p/>
          <a:p>
            <a:r>
              <a:t>Handoff: "Matthew — where the data lives."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MATTHEW (6:15-6:35)</a:t>
            </a:r>
          </a:p>
          <a:p/>
          <a:p>
            <a:r>
              <a:t>Data flows as typed arrays of interface objects — every business, review, and deal matches a TypeScript contract. Scope is deliberate: module constants for static data, component state for UI, React Query cache for server data, PostgreSQL for persistence.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OSCAR (6:35-6:50)</a:t>
            </a:r>
          </a:p>
          <a:p/>
          <a:p>
            <a:r>
              <a:t>The impact report turns raw check-ins into insight: category breakdowns, a sortable business table, CSV export for spreadsheets, and an economic multiplier showing your dollars kept local — data analysis users actually act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FELIX (6:50-7:00)</a:t>
            </a:r>
          </a:p>
          <a:p/>
          <a:p>
            <a:r>
              <a:t>Six required features, an intelligent assistant, and measurable community impact — that's Pulse: a byte-sized business boost. Thank you, judges — we welcome your questions.</a:t>
            </a:r>
          </a:p>
          <a:p/>
          <a:p>
            <a:r>
              <a:t>[Assets cited: Lucide icons (ISC), Pulse logo (original), all screenshots original from our application and source code; business photos within screenshots are Google Places content displayed with attribution.]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164592"/>
          </a:xfrm>
          <a:prstGeom prst="roundRect">
            <a:avLst>
              <a:gd name="adj" fmla="val 8000"/>
            </a:avLst>
          </a:prstGeom>
          <a:solidFill>
            <a:srgbClr val="3B6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ulse-logo.png"/>
          <p:cNvPicPr>
            <a:picLocks noChangeAspect="1"/>
          </p:cNvPicPr>
          <p:nvPr/>
        </p:nvPicPr>
        <p:blipFill>
          <a:blip r:embed="rId2"/>
          <a:stretch>
            <a:fillRect/>
          </a:stretch>
        </p:blipFill>
        <p:spPr>
          <a:xfrm>
            <a:off x="5550408" y="1143000"/>
            <a:ext cx="1097280" cy="1097280"/>
          </a:xfrm>
          <a:prstGeom prst="rect">
            <a:avLst/>
          </a:prstGeom>
        </p:spPr>
      </p:pic>
      <p:sp>
        <p:nvSpPr>
          <p:cNvPr id="4" name="TextBox 3"/>
          <p:cNvSpPr txBox="1"/>
          <p:nvPr/>
        </p:nvSpPr>
        <p:spPr>
          <a:xfrm>
            <a:off x="1463040" y="2423160"/>
            <a:ext cx="9262872" cy="1005840"/>
          </a:xfrm>
          <a:prstGeom prst="rect">
            <a:avLst/>
          </a:prstGeom>
          <a:noFill/>
        </p:spPr>
        <p:txBody>
          <a:bodyPr wrap="square" anchor="t">
            <a:spAutoFit/>
          </a:bodyPr>
          <a:lstStyle/>
          <a:p>
            <a:pPr algn="ctr">
              <a:lnSpc>
                <a:spcPct val="100000"/>
              </a:lnSpc>
              <a:spcAft>
                <a:spcPts val="600"/>
              </a:spcAft>
            </a:pPr>
            <a:r>
              <a:rPr sz="6400" b="1">
                <a:solidFill>
                  <a:srgbClr val="0F172A"/>
                </a:solidFill>
                <a:latin typeface="Inter"/>
              </a:rPr>
              <a:t>Pulse</a:t>
            </a:r>
          </a:p>
        </p:txBody>
      </p:sp>
      <p:sp>
        <p:nvSpPr>
          <p:cNvPr id="5" name="TextBox 4"/>
          <p:cNvSpPr txBox="1"/>
          <p:nvPr/>
        </p:nvSpPr>
        <p:spPr>
          <a:xfrm>
            <a:off x="1463040" y="3520440"/>
            <a:ext cx="9262872" cy="548640"/>
          </a:xfrm>
          <a:prstGeom prst="rect">
            <a:avLst/>
          </a:prstGeom>
          <a:noFill/>
        </p:spPr>
        <p:txBody>
          <a:bodyPr wrap="square" anchor="t">
            <a:spAutoFit/>
          </a:bodyPr>
          <a:lstStyle/>
          <a:p>
            <a:pPr algn="ctr">
              <a:lnSpc>
                <a:spcPct val="100000"/>
              </a:lnSpc>
              <a:spcAft>
                <a:spcPts val="600"/>
              </a:spcAft>
            </a:pPr>
            <a:r>
              <a:rPr sz="2400" b="0">
                <a:solidFill>
                  <a:srgbClr val="64748B"/>
                </a:solidFill>
                <a:latin typeface="Inter"/>
              </a:rPr>
              <a:t>Discover. Support. </a:t>
            </a:r>
            <a:r>
              <a:rPr sz="2400" b="1">
                <a:solidFill>
                  <a:srgbClr val="3B6EF6"/>
                </a:solidFill>
                <a:latin typeface="Inter"/>
              </a:rPr>
              <a:t>See your impact.</a:t>
            </a:r>
          </a:p>
        </p:txBody>
      </p:sp>
      <p:sp>
        <p:nvSpPr>
          <p:cNvPr id="6" name="TextBox 5"/>
          <p:cNvSpPr txBox="1"/>
          <p:nvPr/>
        </p:nvSpPr>
        <p:spPr>
          <a:xfrm>
            <a:off x="1463040" y="4617720"/>
            <a:ext cx="9262872" cy="457200"/>
          </a:xfrm>
          <a:prstGeom prst="rect">
            <a:avLst/>
          </a:prstGeom>
          <a:noFill/>
        </p:spPr>
        <p:txBody>
          <a:bodyPr wrap="square" anchor="t">
            <a:spAutoFit/>
          </a:bodyPr>
          <a:lstStyle/>
          <a:p>
            <a:pPr algn="ctr">
              <a:lnSpc>
                <a:spcPct val="100000"/>
              </a:lnSpc>
              <a:spcAft>
                <a:spcPts val="600"/>
              </a:spcAft>
            </a:pPr>
            <a:r>
              <a:rPr sz="1800" b="1">
                <a:solidFill>
                  <a:srgbClr val="0F172A"/>
                </a:solidFill>
                <a:latin typeface="Inter"/>
              </a:rPr>
              <a:t>Felix Yin  ·  Oscar Gao  ·  Matthew Heng</a:t>
            </a:r>
          </a:p>
        </p:txBody>
      </p:sp>
      <p:sp>
        <p:nvSpPr>
          <p:cNvPr id="7" name="TextBox 6"/>
          <p:cNvSpPr txBox="1"/>
          <p:nvPr/>
        </p:nvSpPr>
        <p:spPr>
          <a:xfrm>
            <a:off x="1463040" y="5074920"/>
            <a:ext cx="9262872" cy="731520"/>
          </a:xfrm>
          <a:prstGeom prst="rect">
            <a:avLst/>
          </a:prstGeom>
          <a:noFill/>
        </p:spPr>
        <p:txBody>
          <a:bodyPr wrap="square" anchor="t">
            <a:spAutoFit/>
          </a:bodyPr>
          <a:lstStyle/>
          <a:p>
            <a:pPr algn="ctr">
              <a:lnSpc>
                <a:spcPct val="100000"/>
              </a:lnSpc>
              <a:spcAft>
                <a:spcPts val="600"/>
              </a:spcAft>
            </a:pPr>
            <a:r>
              <a:rPr sz="1400" b="0">
                <a:solidFill>
                  <a:srgbClr val="64748B"/>
                </a:solidFill>
                <a:latin typeface="Inter"/>
              </a:rPr>
              <a:t>Diamond Bar FBLA</a:t>
            </a:r>
          </a:p>
          <a:p>
            <a:pPr algn="ctr">
              <a:lnSpc>
                <a:spcPct val="100000"/>
              </a:lnSpc>
              <a:spcAft>
                <a:spcPts val="600"/>
              </a:spcAft>
            </a:pPr>
            <a:r>
              <a:rPr sz="1400" b="0">
                <a:solidFill>
                  <a:srgbClr val="64748B"/>
                </a:solidFill>
                <a:latin typeface="Inter"/>
              </a:rPr>
              <a:t>Coding &amp; Programming 2025–26 · Byte-Sized Business Boost</a:t>
            </a:r>
          </a:p>
        </p:txBody>
      </p:sp>
      <p:sp>
        <p:nvSpPr>
          <p:cNvPr id="8" name="TextBox 7"/>
          <p:cNvSpPr txBox="1"/>
          <p:nvPr/>
        </p:nvSpPr>
        <p:spPr>
          <a:xfrm>
            <a:off x="411480" y="6473952"/>
            <a:ext cx="7315200" cy="320040"/>
          </a:xfrm>
          <a:prstGeom prst="rect">
            <a:avLst/>
          </a:prstGeom>
          <a:noFill/>
        </p:spPr>
        <p:txBody>
          <a:bodyPr wrap="square" anchor="t">
            <a:spAutoFit/>
          </a:bodyPr>
          <a:lstStyle/>
          <a:p>
            <a:pPr algn="l">
              <a:lnSpc>
                <a:spcPct val="100000"/>
              </a:lnSpc>
              <a:spcAft>
                <a:spcPts val="600"/>
              </a:spcAft>
            </a:pPr>
            <a:r>
              <a:rPr sz="1000" b="0">
                <a:solidFill>
                  <a:srgbClr val="64748B"/>
                </a:solidFill>
                <a:latin typeface="Inter"/>
              </a:rPr>
              <a:t>Pulse · FBLA Coding &amp; Programming 2025–26</a:t>
            </a:r>
          </a:p>
        </p:txBody>
      </p:sp>
      <p:sp>
        <p:nvSpPr>
          <p:cNvPr id="9" name="TextBox 8"/>
          <p:cNvSpPr txBox="1"/>
          <p:nvPr/>
        </p:nvSpPr>
        <p:spPr>
          <a:xfrm>
            <a:off x="11247120" y="6473952"/>
            <a:ext cx="548640" cy="320040"/>
          </a:xfrm>
          <a:prstGeom prst="rect">
            <a:avLst/>
          </a:prstGeom>
          <a:noFill/>
        </p:spPr>
        <p:txBody>
          <a:bodyPr wrap="square" anchor="t">
            <a:spAutoFit/>
          </a:bodyPr>
          <a:lstStyle/>
          <a:p>
            <a:pPr algn="r">
              <a:lnSpc>
                <a:spcPct val="100000"/>
              </a:lnSpc>
              <a:spcAft>
                <a:spcPts val="600"/>
              </a:spcAft>
            </a:pPr>
            <a:r>
              <a:rPr sz="1000" b="0">
                <a:solidFill>
                  <a:srgbClr val="64748B"/>
                </a:solidFill>
                <a:latin typeface="Inter"/>
              </a:rPr>
              <a:t>1</a:t>
            </a:r>
          </a:p>
        </p:txBody>
      </p:sp>
      <p:pic>
        <p:nvPicPr>
          <p:cNvPr id="10" name="Picture 9" descr="pulse-logo.png"/>
          <p:cNvPicPr>
            <a:picLocks noChangeAspect="1"/>
          </p:cNvPicPr>
          <p:nvPr/>
        </p:nvPicPr>
        <p:blipFill>
          <a:blip r:embed="rId2"/>
          <a:stretch>
            <a:fillRect/>
          </a:stretch>
        </p:blipFill>
        <p:spPr>
          <a:xfrm>
            <a:off x="11658600" y="6419088"/>
            <a:ext cx="292608" cy="29260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315200" cy="365760"/>
          </a:xfrm>
          <a:prstGeom prst="rect">
            <a:avLst/>
          </a:prstGeom>
          <a:noFill/>
        </p:spPr>
        <p:txBody>
          <a:bodyPr wrap="square" anchor="t">
            <a:spAutoFit/>
          </a:bodyPr>
          <a:lstStyle/>
          <a:p>
            <a:pPr algn="l">
              <a:lnSpc>
                <a:spcPct val="100000"/>
              </a:lnSpc>
              <a:spcAft>
                <a:spcPts val="600"/>
              </a:spcAft>
            </a:pPr>
            <a:r>
              <a:rPr sz="1300" b="1">
                <a:solidFill>
                  <a:srgbClr val="3B6EF6"/>
                </a:solidFill>
                <a:latin typeface="Inter"/>
              </a:rPr>
              <a:t>THE PROBLEM &amp; OUR SOLUTION</a:t>
            </a:r>
          </a:p>
        </p:txBody>
      </p:sp>
      <p:sp>
        <p:nvSpPr>
          <p:cNvPr id="3" name="TextBox 2"/>
          <p:cNvSpPr txBox="1"/>
          <p:nvPr/>
        </p:nvSpPr>
        <p:spPr>
          <a:xfrm>
            <a:off x="411480" y="621792"/>
            <a:ext cx="11338560" cy="822960"/>
          </a:xfrm>
          <a:prstGeom prst="rect">
            <a:avLst/>
          </a:prstGeom>
          <a:noFill/>
        </p:spPr>
        <p:txBody>
          <a:bodyPr wrap="square" anchor="t">
            <a:spAutoFit/>
          </a:bodyPr>
          <a:lstStyle/>
          <a:p>
            <a:pPr algn="l">
              <a:lnSpc>
                <a:spcPct val="100000"/>
              </a:lnSpc>
              <a:spcAft>
                <a:spcPts val="600"/>
              </a:spcAft>
            </a:pPr>
            <a:r>
              <a:rPr sz="3400" b="1">
                <a:solidFill>
                  <a:srgbClr val="0F172A"/>
                </a:solidFill>
                <a:latin typeface="Inter"/>
              </a:rPr>
              <a:t>Local dollars work harder — when they stay local</a:t>
            </a:r>
          </a:p>
        </p:txBody>
      </p:sp>
      <p:sp>
        <p:nvSpPr>
          <p:cNvPr id="4" name="Rounded Rectangle 3"/>
          <p:cNvSpPr/>
          <p:nvPr/>
        </p:nvSpPr>
        <p:spPr>
          <a:xfrm>
            <a:off x="411480" y="1600200"/>
            <a:ext cx="5120640" cy="228600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828800"/>
            <a:ext cx="4572000" cy="1005840"/>
          </a:xfrm>
          <a:prstGeom prst="rect">
            <a:avLst/>
          </a:prstGeom>
          <a:noFill/>
        </p:spPr>
        <p:txBody>
          <a:bodyPr wrap="square" anchor="t">
            <a:spAutoFit/>
          </a:bodyPr>
          <a:lstStyle/>
          <a:p>
            <a:pPr algn="l">
              <a:lnSpc>
                <a:spcPct val="100000"/>
              </a:lnSpc>
              <a:spcAft>
                <a:spcPts val="600"/>
              </a:spcAft>
            </a:pPr>
            <a:r>
              <a:rPr sz="5400" b="1">
                <a:solidFill>
                  <a:srgbClr val="3B6EF6"/>
                </a:solidFill>
                <a:latin typeface="Inter"/>
              </a:rPr>
              <a:t>68¢</a:t>
            </a:r>
            <a:r>
              <a:rPr sz="1800" b="0">
                <a:solidFill>
                  <a:srgbClr val="0F172A"/>
                </a:solidFill>
                <a:latin typeface="Inter"/>
              </a:rPr>
              <a:t>  of a local dollar stays local</a:t>
            </a:r>
          </a:p>
        </p:txBody>
      </p:sp>
      <p:sp>
        <p:nvSpPr>
          <p:cNvPr id="6" name="TextBox 5"/>
          <p:cNvSpPr txBox="1"/>
          <p:nvPr/>
        </p:nvSpPr>
        <p:spPr>
          <a:xfrm>
            <a:off x="685800" y="2971800"/>
            <a:ext cx="4572000" cy="731520"/>
          </a:xfrm>
          <a:prstGeom prst="rect">
            <a:avLst/>
          </a:prstGeom>
          <a:noFill/>
        </p:spPr>
        <p:txBody>
          <a:bodyPr wrap="square" anchor="t">
            <a:spAutoFit/>
          </a:bodyPr>
          <a:lstStyle/>
          <a:p>
            <a:pPr algn="l">
              <a:lnSpc>
                <a:spcPct val="100000"/>
              </a:lnSpc>
              <a:spcAft>
                <a:spcPts val="600"/>
              </a:spcAft>
            </a:pPr>
            <a:r>
              <a:rPr sz="3200" b="1">
                <a:solidFill>
                  <a:srgbClr val="64748B"/>
                </a:solidFill>
                <a:latin typeface="Inter"/>
              </a:rPr>
              <a:t>43¢</a:t>
            </a:r>
            <a:r>
              <a:rPr sz="1600" b="0">
                <a:solidFill>
                  <a:srgbClr val="64748B"/>
                </a:solidFill>
                <a:latin typeface="Inter"/>
              </a:rPr>
              <a:t>  at a national chain</a:t>
            </a:r>
          </a:p>
        </p:txBody>
      </p:sp>
      <p:sp>
        <p:nvSpPr>
          <p:cNvPr id="7" name="Rounded Rectangle 6"/>
          <p:cNvSpPr/>
          <p:nvPr/>
        </p:nvSpPr>
        <p:spPr>
          <a:xfrm>
            <a:off x="411480" y="4206240"/>
            <a:ext cx="1664208" cy="457200"/>
          </a:xfrm>
          <a:prstGeom prst="roundRect">
            <a:avLst>
              <a:gd name="adj" fmla="val 8000"/>
            </a:avLst>
          </a:prstGeom>
          <a:solidFill>
            <a:srgbClr val="FFFFFF"/>
          </a:solidFill>
          <a:ln w="12700">
            <a:solidFill>
              <a:srgbClr val="3B6EF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3B6EF6"/>
                </a:solidFill>
                <a:latin typeface="Inter"/>
              </a:rPr>
              <a:t>Category sort</a:t>
            </a:r>
          </a:p>
        </p:txBody>
      </p:sp>
      <p:sp>
        <p:nvSpPr>
          <p:cNvPr id="8" name="Rounded Rectangle 7"/>
          <p:cNvSpPr/>
          <p:nvPr/>
        </p:nvSpPr>
        <p:spPr>
          <a:xfrm>
            <a:off x="2194560" y="4206240"/>
            <a:ext cx="1664208" cy="457200"/>
          </a:xfrm>
          <a:prstGeom prst="roundRect">
            <a:avLst>
              <a:gd name="adj" fmla="val 8000"/>
            </a:avLst>
          </a:prstGeom>
          <a:solidFill>
            <a:srgbClr val="FFFFFF"/>
          </a:solidFill>
          <a:ln w="12700">
            <a:solidFill>
              <a:srgbClr val="3B6EF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3B6EF6"/>
                </a:solidFill>
                <a:latin typeface="Inter"/>
              </a:rPr>
              <a:t>Reviews &amp; ratings</a:t>
            </a:r>
          </a:p>
        </p:txBody>
      </p:sp>
      <p:sp>
        <p:nvSpPr>
          <p:cNvPr id="9" name="Rounded Rectangle 8"/>
          <p:cNvSpPr/>
          <p:nvPr/>
        </p:nvSpPr>
        <p:spPr>
          <a:xfrm>
            <a:off x="3977639" y="4206240"/>
            <a:ext cx="1664208" cy="457200"/>
          </a:xfrm>
          <a:prstGeom prst="roundRect">
            <a:avLst>
              <a:gd name="adj" fmla="val 8000"/>
            </a:avLst>
          </a:prstGeom>
          <a:solidFill>
            <a:srgbClr val="FFFFFF"/>
          </a:solidFill>
          <a:ln w="12700">
            <a:solidFill>
              <a:srgbClr val="3B6EF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3B6EF6"/>
                </a:solidFill>
                <a:latin typeface="Inter"/>
              </a:rPr>
              <a:t>Sort by rating</a:t>
            </a:r>
          </a:p>
        </p:txBody>
      </p:sp>
      <p:sp>
        <p:nvSpPr>
          <p:cNvPr id="10" name="Rounded Rectangle 9"/>
          <p:cNvSpPr/>
          <p:nvPr/>
        </p:nvSpPr>
        <p:spPr>
          <a:xfrm>
            <a:off x="411480" y="4773168"/>
            <a:ext cx="1664208" cy="457200"/>
          </a:xfrm>
          <a:prstGeom prst="roundRect">
            <a:avLst>
              <a:gd name="adj" fmla="val 8000"/>
            </a:avLst>
          </a:prstGeom>
          <a:solidFill>
            <a:srgbClr val="FFFFFF"/>
          </a:solidFill>
          <a:ln w="12700">
            <a:solidFill>
              <a:srgbClr val="3B6EF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3B6EF6"/>
                </a:solidFill>
                <a:latin typeface="Inter"/>
              </a:rPr>
              <a:t>Bookmarks</a:t>
            </a:r>
          </a:p>
        </p:txBody>
      </p:sp>
      <p:sp>
        <p:nvSpPr>
          <p:cNvPr id="11" name="Rounded Rectangle 10"/>
          <p:cNvSpPr/>
          <p:nvPr/>
        </p:nvSpPr>
        <p:spPr>
          <a:xfrm>
            <a:off x="2194560" y="4773168"/>
            <a:ext cx="1664208" cy="457200"/>
          </a:xfrm>
          <a:prstGeom prst="roundRect">
            <a:avLst>
              <a:gd name="adj" fmla="val 8000"/>
            </a:avLst>
          </a:prstGeom>
          <a:solidFill>
            <a:srgbClr val="FFFFFF"/>
          </a:solidFill>
          <a:ln w="12700">
            <a:solidFill>
              <a:srgbClr val="3B6EF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3B6EF6"/>
                </a:solidFill>
                <a:latin typeface="Inter"/>
              </a:rPr>
              <a:t>Deals &amp; coupons</a:t>
            </a:r>
          </a:p>
        </p:txBody>
      </p:sp>
      <p:sp>
        <p:nvSpPr>
          <p:cNvPr id="12" name="Rounded Rectangle 11"/>
          <p:cNvSpPr/>
          <p:nvPr/>
        </p:nvSpPr>
        <p:spPr>
          <a:xfrm>
            <a:off x="3977639" y="4773168"/>
            <a:ext cx="1664208" cy="457200"/>
          </a:xfrm>
          <a:prstGeom prst="roundRect">
            <a:avLst>
              <a:gd name="adj" fmla="val 8000"/>
            </a:avLst>
          </a:prstGeom>
          <a:solidFill>
            <a:srgbClr val="FFFFFF"/>
          </a:solidFill>
          <a:ln w="12700">
            <a:solidFill>
              <a:srgbClr val="3B6EF6"/>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3B6EF6"/>
                </a:solidFill>
                <a:latin typeface="Inter"/>
              </a:rPr>
              <a:t>Bot verification</a:t>
            </a:r>
          </a:p>
        </p:txBody>
      </p:sp>
      <p:sp>
        <p:nvSpPr>
          <p:cNvPr id="13" name="TextBox 12"/>
          <p:cNvSpPr txBox="1"/>
          <p:nvPr/>
        </p:nvSpPr>
        <p:spPr>
          <a:xfrm>
            <a:off x="411480" y="5486400"/>
            <a:ext cx="5120640" cy="365760"/>
          </a:xfrm>
          <a:prstGeom prst="rect">
            <a:avLst/>
          </a:prstGeom>
          <a:noFill/>
        </p:spPr>
        <p:txBody>
          <a:bodyPr wrap="square" anchor="t">
            <a:spAutoFit/>
          </a:bodyPr>
          <a:lstStyle/>
          <a:p>
            <a:pPr algn="l">
              <a:lnSpc>
                <a:spcPct val="100000"/>
              </a:lnSpc>
              <a:spcAft>
                <a:spcPts val="600"/>
              </a:spcAft>
            </a:pPr>
            <a:r>
              <a:rPr sz="1400" b="1">
                <a:solidFill>
                  <a:srgbClr val="0F172A"/>
                </a:solidFill>
                <a:latin typeface="Inter"/>
              </a:rPr>
              <a:t>Every prompt requirement — one platform.</a:t>
            </a:r>
          </a:p>
        </p:txBody>
      </p:sp>
      <p:pic>
        <p:nvPicPr>
          <p:cNvPr id="14" name="Picture 13" descr="app-home.png"/>
          <p:cNvPicPr>
            <a:picLocks noChangeAspect="1"/>
          </p:cNvPicPr>
          <p:nvPr/>
        </p:nvPicPr>
        <p:blipFill>
          <a:blip r:embed="rId2"/>
          <a:stretch>
            <a:fillRect/>
          </a:stretch>
        </p:blipFill>
        <p:spPr>
          <a:xfrm>
            <a:off x="5897880" y="1965960"/>
            <a:ext cx="5852160" cy="3291840"/>
          </a:xfrm>
          <a:prstGeom prst="rect">
            <a:avLst/>
          </a:prstGeom>
          <a:ln w="12700">
            <a:solidFill>
              <a:srgbClr val="E2E8F0"/>
            </a:solidFill>
          </a:ln>
          <a:effectLst/>
        </p:spPr>
      </p:pic>
      <p:sp>
        <p:nvSpPr>
          <p:cNvPr id="15" name="TextBox 14"/>
          <p:cNvSpPr txBox="1"/>
          <p:nvPr/>
        </p:nvSpPr>
        <p:spPr>
          <a:xfrm>
            <a:off x="5897880" y="5669280"/>
            <a:ext cx="5852160" cy="274320"/>
          </a:xfrm>
          <a:prstGeom prst="rect">
            <a:avLst/>
          </a:prstGeom>
          <a:noFill/>
        </p:spPr>
        <p:txBody>
          <a:bodyPr wrap="square" anchor="t">
            <a:spAutoFit/>
          </a:bodyPr>
          <a:lstStyle/>
          <a:p>
            <a:pPr algn="ctr">
              <a:lnSpc>
                <a:spcPct val="100000"/>
              </a:lnSpc>
              <a:spcAft>
                <a:spcPts val="600"/>
              </a:spcAft>
            </a:pPr>
            <a:r>
              <a:rPr sz="1100" b="0">
                <a:solidFill>
                  <a:srgbClr val="64748B"/>
                </a:solidFill>
                <a:latin typeface="Inter"/>
              </a:rPr>
              <a:t>Pulse home — live local guide for Diamond Bar</a:t>
            </a:r>
          </a:p>
        </p:txBody>
      </p:sp>
      <p:sp>
        <p:nvSpPr>
          <p:cNvPr id="16" name="TextBox 15"/>
          <p:cNvSpPr txBox="1"/>
          <p:nvPr/>
        </p:nvSpPr>
        <p:spPr>
          <a:xfrm>
            <a:off x="411480" y="6473952"/>
            <a:ext cx="7315200" cy="320040"/>
          </a:xfrm>
          <a:prstGeom prst="rect">
            <a:avLst/>
          </a:prstGeom>
          <a:noFill/>
        </p:spPr>
        <p:txBody>
          <a:bodyPr wrap="square" anchor="t">
            <a:spAutoFit/>
          </a:bodyPr>
          <a:lstStyle/>
          <a:p>
            <a:pPr algn="l">
              <a:lnSpc>
                <a:spcPct val="100000"/>
              </a:lnSpc>
              <a:spcAft>
                <a:spcPts val="600"/>
              </a:spcAft>
            </a:pPr>
            <a:r>
              <a:rPr sz="1000" b="0">
                <a:solidFill>
                  <a:srgbClr val="64748B"/>
                </a:solidFill>
                <a:latin typeface="Inter"/>
              </a:rPr>
              <a:t>Pulse · FBLA Coding &amp; Programming 2025–26</a:t>
            </a:r>
          </a:p>
        </p:txBody>
      </p:sp>
      <p:sp>
        <p:nvSpPr>
          <p:cNvPr id="17" name="TextBox 16"/>
          <p:cNvSpPr txBox="1"/>
          <p:nvPr/>
        </p:nvSpPr>
        <p:spPr>
          <a:xfrm>
            <a:off x="11247120" y="6473952"/>
            <a:ext cx="548640" cy="320040"/>
          </a:xfrm>
          <a:prstGeom prst="rect">
            <a:avLst/>
          </a:prstGeom>
          <a:noFill/>
        </p:spPr>
        <p:txBody>
          <a:bodyPr wrap="square" anchor="t">
            <a:spAutoFit/>
          </a:bodyPr>
          <a:lstStyle/>
          <a:p>
            <a:pPr algn="r">
              <a:lnSpc>
                <a:spcPct val="100000"/>
              </a:lnSpc>
              <a:spcAft>
                <a:spcPts val="600"/>
              </a:spcAft>
            </a:pPr>
            <a:r>
              <a:rPr sz="1000" b="0">
                <a:solidFill>
                  <a:srgbClr val="64748B"/>
                </a:solidFill>
                <a:latin typeface="Inter"/>
              </a:rPr>
              <a:t>2</a:t>
            </a:r>
          </a:p>
        </p:txBody>
      </p:sp>
      <p:pic>
        <p:nvPicPr>
          <p:cNvPr id="18" name="Picture 17" descr="pulse-logo.png"/>
          <p:cNvPicPr>
            <a:picLocks noChangeAspect="1"/>
          </p:cNvPicPr>
          <p:nvPr/>
        </p:nvPicPr>
        <p:blipFill>
          <a:blip r:embed="rId3"/>
          <a:stretch>
            <a:fillRect/>
          </a:stretch>
        </p:blipFill>
        <p:spPr>
          <a:xfrm>
            <a:off x="11658600" y="6419088"/>
            <a:ext cx="292608" cy="29260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315200" cy="365760"/>
          </a:xfrm>
          <a:prstGeom prst="rect">
            <a:avLst/>
          </a:prstGeom>
          <a:noFill/>
        </p:spPr>
        <p:txBody>
          <a:bodyPr wrap="square" anchor="t">
            <a:spAutoFit/>
          </a:bodyPr>
          <a:lstStyle/>
          <a:p>
            <a:pPr algn="l">
              <a:lnSpc>
                <a:spcPct val="100000"/>
              </a:lnSpc>
              <a:spcAft>
                <a:spcPts val="600"/>
              </a:spcAft>
            </a:pPr>
            <a:r>
              <a:rPr sz="1300" b="1">
                <a:solidFill>
                  <a:srgbClr val="3B6EF6"/>
                </a:solidFill>
                <a:latin typeface="Inter"/>
              </a:rPr>
              <a:t>LANGUAGE SELECTION</a:t>
            </a:r>
          </a:p>
        </p:txBody>
      </p:sp>
      <p:sp>
        <p:nvSpPr>
          <p:cNvPr id="3" name="TextBox 2"/>
          <p:cNvSpPr txBox="1"/>
          <p:nvPr/>
        </p:nvSpPr>
        <p:spPr>
          <a:xfrm>
            <a:off x="411480" y="621792"/>
            <a:ext cx="11338560" cy="822960"/>
          </a:xfrm>
          <a:prstGeom prst="rect">
            <a:avLst/>
          </a:prstGeom>
          <a:noFill/>
        </p:spPr>
        <p:txBody>
          <a:bodyPr wrap="square" anchor="t">
            <a:spAutoFit/>
          </a:bodyPr>
          <a:lstStyle/>
          <a:p>
            <a:pPr algn="l">
              <a:lnSpc>
                <a:spcPct val="100000"/>
              </a:lnSpc>
              <a:spcAft>
                <a:spcPts val="600"/>
              </a:spcAft>
            </a:pPr>
            <a:r>
              <a:rPr sz="3400" b="1">
                <a:solidFill>
                  <a:srgbClr val="0F172A"/>
                </a:solidFill>
                <a:latin typeface="Inter"/>
              </a:rPr>
              <a:t>TypeScript + Next.js 16</a:t>
            </a:r>
          </a:p>
        </p:txBody>
      </p:sp>
      <p:sp>
        <p:nvSpPr>
          <p:cNvPr id="4" name="Rounded Rectangle 3"/>
          <p:cNvSpPr/>
          <p:nvPr/>
        </p:nvSpPr>
        <p:spPr>
          <a:xfrm>
            <a:off x="411480" y="1737360"/>
            <a:ext cx="109728" cy="777240"/>
          </a:xfrm>
          <a:prstGeom prst="roundRect">
            <a:avLst>
              <a:gd name="adj" fmla="val 8000"/>
            </a:avLst>
          </a:prstGeom>
          <a:solidFill>
            <a:srgbClr val="3B6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37360"/>
            <a:ext cx="4846320" cy="411480"/>
          </a:xfrm>
          <a:prstGeom prst="rect">
            <a:avLst/>
          </a:prstGeom>
          <a:noFill/>
        </p:spPr>
        <p:txBody>
          <a:bodyPr wrap="square" anchor="t">
            <a:spAutoFit/>
          </a:bodyPr>
          <a:lstStyle/>
          <a:p>
            <a:pPr algn="l">
              <a:lnSpc>
                <a:spcPct val="100000"/>
              </a:lnSpc>
              <a:spcAft>
                <a:spcPts val="600"/>
              </a:spcAft>
            </a:pPr>
            <a:r>
              <a:rPr sz="1800" b="1">
                <a:solidFill>
                  <a:srgbClr val="0F172A"/>
                </a:solidFill>
                <a:latin typeface="Inter"/>
              </a:rPr>
              <a:t>Static typing</a:t>
            </a:r>
          </a:p>
        </p:txBody>
      </p:sp>
      <p:sp>
        <p:nvSpPr>
          <p:cNvPr id="6" name="TextBox 5"/>
          <p:cNvSpPr txBox="1"/>
          <p:nvPr/>
        </p:nvSpPr>
        <p:spPr>
          <a:xfrm>
            <a:off x="685800" y="2121408"/>
            <a:ext cx="4846320" cy="411480"/>
          </a:xfrm>
          <a:prstGeom prst="rect">
            <a:avLst/>
          </a:prstGeom>
          <a:noFill/>
        </p:spPr>
        <p:txBody>
          <a:bodyPr wrap="square" anchor="t">
            <a:spAutoFit/>
          </a:bodyPr>
          <a:lstStyle/>
          <a:p>
            <a:pPr algn="l">
              <a:lnSpc>
                <a:spcPct val="100000"/>
              </a:lnSpc>
              <a:spcAft>
                <a:spcPts val="600"/>
              </a:spcAft>
            </a:pPr>
            <a:r>
              <a:rPr sz="1300" b="0">
                <a:solidFill>
                  <a:srgbClr val="64748B"/>
                </a:solidFill>
                <a:latin typeface="Inter"/>
              </a:rPr>
              <a:t>bugs caught at compile time, not on stage</a:t>
            </a:r>
          </a:p>
        </p:txBody>
      </p:sp>
      <p:sp>
        <p:nvSpPr>
          <p:cNvPr id="7" name="Rounded Rectangle 6"/>
          <p:cNvSpPr/>
          <p:nvPr/>
        </p:nvSpPr>
        <p:spPr>
          <a:xfrm>
            <a:off x="411480" y="2724912"/>
            <a:ext cx="109728" cy="777240"/>
          </a:xfrm>
          <a:prstGeom prst="roundRect">
            <a:avLst>
              <a:gd name="adj" fmla="val 8000"/>
            </a:avLst>
          </a:prstGeom>
          <a:solidFill>
            <a:srgbClr val="3B6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724912"/>
            <a:ext cx="4846320" cy="411480"/>
          </a:xfrm>
          <a:prstGeom prst="rect">
            <a:avLst/>
          </a:prstGeom>
          <a:noFill/>
        </p:spPr>
        <p:txBody>
          <a:bodyPr wrap="square" anchor="t">
            <a:spAutoFit/>
          </a:bodyPr>
          <a:lstStyle/>
          <a:p>
            <a:pPr algn="l">
              <a:lnSpc>
                <a:spcPct val="100000"/>
              </a:lnSpc>
              <a:spcAft>
                <a:spcPts val="600"/>
              </a:spcAft>
            </a:pPr>
            <a:r>
              <a:rPr sz="1800" b="1">
                <a:solidFill>
                  <a:srgbClr val="0F172A"/>
                </a:solidFill>
                <a:latin typeface="Inter"/>
              </a:rPr>
              <a:t>strict: true</a:t>
            </a:r>
          </a:p>
        </p:txBody>
      </p:sp>
      <p:sp>
        <p:nvSpPr>
          <p:cNvPr id="9" name="TextBox 8"/>
          <p:cNvSpPr txBox="1"/>
          <p:nvPr/>
        </p:nvSpPr>
        <p:spPr>
          <a:xfrm>
            <a:off x="685800" y="3108960"/>
            <a:ext cx="4846320" cy="411480"/>
          </a:xfrm>
          <a:prstGeom prst="rect">
            <a:avLst/>
          </a:prstGeom>
          <a:noFill/>
        </p:spPr>
        <p:txBody>
          <a:bodyPr wrap="square" anchor="t">
            <a:spAutoFit/>
          </a:bodyPr>
          <a:lstStyle/>
          <a:p>
            <a:pPr algn="l">
              <a:lnSpc>
                <a:spcPct val="100000"/>
              </a:lnSpc>
              <a:spcAft>
                <a:spcPts val="600"/>
              </a:spcAft>
            </a:pPr>
            <a:r>
              <a:rPr sz="1300" b="0">
                <a:solidFill>
                  <a:srgbClr val="64748B"/>
                </a:solidFill>
                <a:latin typeface="Inter"/>
              </a:rPr>
              <a:t>no implicit any, no null surprises</a:t>
            </a:r>
          </a:p>
        </p:txBody>
      </p:sp>
      <p:sp>
        <p:nvSpPr>
          <p:cNvPr id="10" name="Rounded Rectangle 9"/>
          <p:cNvSpPr/>
          <p:nvPr/>
        </p:nvSpPr>
        <p:spPr>
          <a:xfrm>
            <a:off x="411480" y="3712464"/>
            <a:ext cx="109728" cy="777240"/>
          </a:xfrm>
          <a:prstGeom prst="roundRect">
            <a:avLst>
              <a:gd name="adj" fmla="val 8000"/>
            </a:avLst>
          </a:prstGeom>
          <a:solidFill>
            <a:srgbClr val="3B6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712464"/>
            <a:ext cx="4846320" cy="411480"/>
          </a:xfrm>
          <a:prstGeom prst="rect">
            <a:avLst/>
          </a:prstGeom>
          <a:noFill/>
        </p:spPr>
        <p:txBody>
          <a:bodyPr wrap="square" anchor="t">
            <a:spAutoFit/>
          </a:bodyPr>
          <a:lstStyle/>
          <a:p>
            <a:pPr algn="l">
              <a:lnSpc>
                <a:spcPct val="100000"/>
              </a:lnSpc>
              <a:spcAft>
                <a:spcPts val="600"/>
              </a:spcAft>
            </a:pPr>
            <a:r>
              <a:rPr sz="1800" b="1">
                <a:solidFill>
                  <a:srgbClr val="0F172A"/>
                </a:solidFill>
                <a:latin typeface="Inter"/>
              </a:rPr>
              <a:t>SSR + API routes</a:t>
            </a:r>
          </a:p>
        </p:txBody>
      </p:sp>
      <p:sp>
        <p:nvSpPr>
          <p:cNvPr id="12" name="TextBox 11"/>
          <p:cNvSpPr txBox="1"/>
          <p:nvPr/>
        </p:nvSpPr>
        <p:spPr>
          <a:xfrm>
            <a:off x="685800" y="4096512"/>
            <a:ext cx="4846320" cy="411480"/>
          </a:xfrm>
          <a:prstGeom prst="rect">
            <a:avLst/>
          </a:prstGeom>
          <a:noFill/>
        </p:spPr>
        <p:txBody>
          <a:bodyPr wrap="square" anchor="t">
            <a:spAutoFit/>
          </a:bodyPr>
          <a:lstStyle/>
          <a:p>
            <a:pPr algn="l">
              <a:lnSpc>
                <a:spcPct val="100000"/>
              </a:lnSpc>
              <a:spcAft>
                <a:spcPts val="600"/>
              </a:spcAft>
            </a:pPr>
            <a:r>
              <a:rPr sz="1300" b="0">
                <a:solidFill>
                  <a:srgbClr val="64748B"/>
                </a:solidFill>
                <a:latin typeface="Inter"/>
              </a:rPr>
              <a:t>one production artifact, fast first paint</a:t>
            </a:r>
          </a:p>
        </p:txBody>
      </p:sp>
      <p:sp>
        <p:nvSpPr>
          <p:cNvPr id="13" name="Rounded Rectangle 12"/>
          <p:cNvSpPr/>
          <p:nvPr/>
        </p:nvSpPr>
        <p:spPr>
          <a:xfrm>
            <a:off x="411480" y="4700016"/>
            <a:ext cx="109728" cy="777240"/>
          </a:xfrm>
          <a:prstGeom prst="roundRect">
            <a:avLst>
              <a:gd name="adj" fmla="val 8000"/>
            </a:avLst>
          </a:prstGeom>
          <a:solidFill>
            <a:srgbClr val="3B6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700016"/>
            <a:ext cx="4846320" cy="411480"/>
          </a:xfrm>
          <a:prstGeom prst="rect">
            <a:avLst/>
          </a:prstGeom>
          <a:noFill/>
        </p:spPr>
        <p:txBody>
          <a:bodyPr wrap="square" anchor="t">
            <a:spAutoFit/>
          </a:bodyPr>
          <a:lstStyle/>
          <a:p>
            <a:pPr algn="l">
              <a:lnSpc>
                <a:spcPct val="100000"/>
              </a:lnSpc>
              <a:spcAft>
                <a:spcPts val="600"/>
              </a:spcAft>
            </a:pPr>
            <a:r>
              <a:rPr sz="1800" b="1">
                <a:solidFill>
                  <a:srgbClr val="0F172A"/>
                </a:solidFill>
                <a:latin typeface="Inter"/>
              </a:rPr>
              <a:t>Considered Python/Flask</a:t>
            </a:r>
          </a:p>
        </p:txBody>
      </p:sp>
      <p:sp>
        <p:nvSpPr>
          <p:cNvPr id="15" name="TextBox 14"/>
          <p:cNvSpPr txBox="1"/>
          <p:nvPr/>
        </p:nvSpPr>
        <p:spPr>
          <a:xfrm>
            <a:off x="685800" y="5084064"/>
            <a:ext cx="4846320" cy="411480"/>
          </a:xfrm>
          <a:prstGeom prst="rect">
            <a:avLst/>
          </a:prstGeom>
          <a:noFill/>
        </p:spPr>
        <p:txBody>
          <a:bodyPr wrap="square" anchor="t">
            <a:spAutoFit/>
          </a:bodyPr>
          <a:lstStyle/>
          <a:p>
            <a:pPr algn="l">
              <a:lnSpc>
                <a:spcPct val="100000"/>
              </a:lnSpc>
              <a:spcAft>
                <a:spcPts val="600"/>
              </a:spcAft>
            </a:pPr>
            <a:r>
              <a:rPr sz="1300" b="0">
                <a:solidFill>
                  <a:srgbClr val="64748B"/>
                </a:solidFill>
                <a:latin typeface="Inter"/>
              </a:rPr>
              <a:t>no end-to-end type safety across client + server</a:t>
            </a:r>
          </a:p>
        </p:txBody>
      </p:sp>
      <p:pic>
        <p:nvPicPr>
          <p:cNvPr id="16" name="Picture 15" descr="code-language-tsconfig.png"/>
          <p:cNvPicPr>
            <a:picLocks noChangeAspect="1"/>
          </p:cNvPicPr>
          <p:nvPr/>
        </p:nvPicPr>
        <p:blipFill>
          <a:blip r:embed="rId2"/>
          <a:stretch>
            <a:fillRect/>
          </a:stretch>
        </p:blipFill>
        <p:spPr>
          <a:xfrm>
            <a:off x="5897880" y="1683254"/>
            <a:ext cx="5852160" cy="4040131"/>
          </a:xfrm>
          <a:prstGeom prst="rect">
            <a:avLst/>
          </a:prstGeom>
          <a:ln w="12700">
            <a:solidFill>
              <a:srgbClr val="E2E8F0"/>
            </a:solidFill>
          </a:ln>
          <a:effectLst/>
        </p:spPr>
      </p:pic>
      <p:sp>
        <p:nvSpPr>
          <p:cNvPr id="17" name="TextBox 16"/>
          <p:cNvSpPr txBox="1"/>
          <p:nvPr/>
        </p:nvSpPr>
        <p:spPr>
          <a:xfrm>
            <a:off x="5897880" y="5897880"/>
            <a:ext cx="5852160" cy="274320"/>
          </a:xfrm>
          <a:prstGeom prst="rect">
            <a:avLst/>
          </a:prstGeom>
          <a:noFill/>
        </p:spPr>
        <p:txBody>
          <a:bodyPr wrap="square" anchor="t">
            <a:spAutoFit/>
          </a:bodyPr>
          <a:lstStyle/>
          <a:p>
            <a:pPr algn="ctr">
              <a:lnSpc>
                <a:spcPct val="100000"/>
              </a:lnSpc>
              <a:spcAft>
                <a:spcPts val="600"/>
              </a:spcAft>
            </a:pPr>
            <a:r>
              <a:rPr sz="1100" b="0">
                <a:solidFill>
                  <a:srgbClr val="64748B"/>
                </a:solidFill>
                <a:latin typeface="Inter"/>
              </a:rPr>
              <a:t>web/tsconfig.json — strict mode on</a:t>
            </a:r>
          </a:p>
        </p:txBody>
      </p:sp>
      <p:sp>
        <p:nvSpPr>
          <p:cNvPr id="18" name="TextBox 17"/>
          <p:cNvSpPr txBox="1"/>
          <p:nvPr/>
        </p:nvSpPr>
        <p:spPr>
          <a:xfrm>
            <a:off x="411480" y="6473952"/>
            <a:ext cx="7315200" cy="320040"/>
          </a:xfrm>
          <a:prstGeom prst="rect">
            <a:avLst/>
          </a:prstGeom>
          <a:noFill/>
        </p:spPr>
        <p:txBody>
          <a:bodyPr wrap="square" anchor="t">
            <a:spAutoFit/>
          </a:bodyPr>
          <a:lstStyle/>
          <a:p>
            <a:pPr algn="l">
              <a:lnSpc>
                <a:spcPct val="100000"/>
              </a:lnSpc>
              <a:spcAft>
                <a:spcPts val="600"/>
              </a:spcAft>
            </a:pPr>
            <a:r>
              <a:rPr sz="1000" b="0">
                <a:solidFill>
                  <a:srgbClr val="64748B"/>
                </a:solidFill>
                <a:latin typeface="Inter"/>
              </a:rPr>
              <a:t>Pulse · FBLA Coding &amp; Programming 2025–26</a:t>
            </a:r>
          </a:p>
        </p:txBody>
      </p:sp>
      <p:sp>
        <p:nvSpPr>
          <p:cNvPr id="19" name="TextBox 18"/>
          <p:cNvSpPr txBox="1"/>
          <p:nvPr/>
        </p:nvSpPr>
        <p:spPr>
          <a:xfrm>
            <a:off x="11247120" y="6473952"/>
            <a:ext cx="548640" cy="320040"/>
          </a:xfrm>
          <a:prstGeom prst="rect">
            <a:avLst/>
          </a:prstGeom>
          <a:noFill/>
        </p:spPr>
        <p:txBody>
          <a:bodyPr wrap="square" anchor="t">
            <a:spAutoFit/>
          </a:bodyPr>
          <a:lstStyle/>
          <a:p>
            <a:pPr algn="r">
              <a:lnSpc>
                <a:spcPct val="100000"/>
              </a:lnSpc>
              <a:spcAft>
                <a:spcPts val="600"/>
              </a:spcAft>
            </a:pPr>
            <a:r>
              <a:rPr sz="1000" b="0">
                <a:solidFill>
                  <a:srgbClr val="64748B"/>
                </a:solidFill>
                <a:latin typeface="Inter"/>
              </a:rPr>
              <a:t>3</a:t>
            </a:r>
          </a:p>
        </p:txBody>
      </p:sp>
      <p:pic>
        <p:nvPicPr>
          <p:cNvPr id="20" name="Picture 19" descr="pulse-logo.png"/>
          <p:cNvPicPr>
            <a:picLocks noChangeAspect="1"/>
          </p:cNvPicPr>
          <p:nvPr/>
        </p:nvPicPr>
        <p:blipFill>
          <a:blip r:embed="rId3"/>
          <a:stretch>
            <a:fillRect/>
          </a:stretch>
        </p:blipFill>
        <p:spPr>
          <a:xfrm>
            <a:off x="11658600" y="6419088"/>
            <a:ext cx="292608" cy="29260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315200" cy="365760"/>
          </a:xfrm>
          <a:prstGeom prst="rect">
            <a:avLst/>
          </a:prstGeom>
          <a:noFill/>
        </p:spPr>
        <p:txBody>
          <a:bodyPr wrap="square" anchor="t">
            <a:spAutoFit/>
          </a:bodyPr>
          <a:lstStyle/>
          <a:p>
            <a:pPr algn="l">
              <a:lnSpc>
                <a:spcPct val="100000"/>
              </a:lnSpc>
              <a:spcAft>
                <a:spcPts val="600"/>
              </a:spcAft>
            </a:pPr>
            <a:r>
              <a:rPr sz="1300" b="1">
                <a:solidFill>
                  <a:srgbClr val="3B6EF6"/>
                </a:solidFill>
                <a:latin typeface="Inter"/>
              </a:rPr>
              <a:t>ARCHITECTURE &amp; MODULAR DESIGN</a:t>
            </a:r>
          </a:p>
        </p:txBody>
      </p:sp>
      <p:sp>
        <p:nvSpPr>
          <p:cNvPr id="3" name="TextBox 2"/>
          <p:cNvSpPr txBox="1"/>
          <p:nvPr/>
        </p:nvSpPr>
        <p:spPr>
          <a:xfrm>
            <a:off x="411480" y="621792"/>
            <a:ext cx="11338560" cy="822960"/>
          </a:xfrm>
          <a:prstGeom prst="rect">
            <a:avLst/>
          </a:prstGeom>
          <a:noFill/>
        </p:spPr>
        <p:txBody>
          <a:bodyPr wrap="square" anchor="t">
            <a:spAutoFit/>
          </a:bodyPr>
          <a:lstStyle/>
          <a:p>
            <a:pPr algn="l">
              <a:lnSpc>
                <a:spcPct val="100000"/>
              </a:lnSpc>
              <a:spcAft>
                <a:spcPts val="600"/>
              </a:spcAft>
            </a:pPr>
            <a:r>
              <a:rPr sz="3400" b="1">
                <a:solidFill>
                  <a:srgbClr val="0F172A"/>
                </a:solidFill>
                <a:latin typeface="Inter"/>
              </a:rPr>
              <a:t>Organized by responsibility</a:t>
            </a:r>
          </a:p>
        </p:txBody>
      </p:sp>
      <p:pic>
        <p:nvPicPr>
          <p:cNvPr id="4" name="Picture 3" descr="code-module-tree.png"/>
          <p:cNvPicPr>
            <a:picLocks noChangeAspect="1"/>
          </p:cNvPicPr>
          <p:nvPr/>
        </p:nvPicPr>
        <p:blipFill>
          <a:blip r:embed="rId2"/>
          <a:stretch>
            <a:fillRect/>
          </a:stretch>
        </p:blipFill>
        <p:spPr>
          <a:xfrm>
            <a:off x="411480" y="1766306"/>
            <a:ext cx="5760720" cy="4056908"/>
          </a:xfrm>
          <a:prstGeom prst="rect">
            <a:avLst/>
          </a:prstGeom>
          <a:ln w="12700">
            <a:solidFill>
              <a:srgbClr val="E2E8F0"/>
            </a:solidFill>
          </a:ln>
          <a:effectLst/>
        </p:spPr>
      </p:pic>
      <p:sp>
        <p:nvSpPr>
          <p:cNvPr id="5" name="TextBox 4"/>
          <p:cNvSpPr txBox="1"/>
          <p:nvPr/>
        </p:nvSpPr>
        <p:spPr>
          <a:xfrm>
            <a:off x="411480" y="5989320"/>
            <a:ext cx="5760720" cy="274320"/>
          </a:xfrm>
          <a:prstGeom prst="rect">
            <a:avLst/>
          </a:prstGeom>
          <a:noFill/>
        </p:spPr>
        <p:txBody>
          <a:bodyPr wrap="square" anchor="t">
            <a:spAutoFit/>
          </a:bodyPr>
          <a:lstStyle/>
          <a:p>
            <a:pPr algn="ctr">
              <a:lnSpc>
                <a:spcPct val="100000"/>
              </a:lnSpc>
              <a:spcAft>
                <a:spcPts val="600"/>
              </a:spcAft>
            </a:pPr>
            <a:r>
              <a:rPr sz="1100" b="0">
                <a:solidFill>
                  <a:srgbClr val="64748B"/>
                </a:solidFill>
                <a:latin typeface="Inter"/>
              </a:rPr>
              <a:t>Module structure — routes, features, hooks, lib, types</a:t>
            </a:r>
          </a:p>
        </p:txBody>
      </p:sp>
      <p:pic>
        <p:nvPicPr>
          <p:cNvPr id="6" name="Picture 5" descr="code-modular-providers.png"/>
          <p:cNvPicPr>
            <a:picLocks noChangeAspect="1"/>
          </p:cNvPicPr>
          <p:nvPr/>
        </p:nvPicPr>
        <p:blipFill>
          <a:blip r:embed="rId3"/>
          <a:stretch>
            <a:fillRect/>
          </a:stretch>
        </p:blipFill>
        <p:spPr>
          <a:xfrm>
            <a:off x="6400800" y="1698067"/>
            <a:ext cx="5394960" cy="3553306"/>
          </a:xfrm>
          <a:prstGeom prst="rect">
            <a:avLst/>
          </a:prstGeom>
          <a:ln w="12700">
            <a:solidFill>
              <a:srgbClr val="E2E8F0"/>
            </a:solidFill>
          </a:ln>
          <a:effectLst/>
        </p:spPr>
      </p:pic>
      <p:sp>
        <p:nvSpPr>
          <p:cNvPr id="7" name="TextBox 6"/>
          <p:cNvSpPr txBox="1"/>
          <p:nvPr/>
        </p:nvSpPr>
        <p:spPr>
          <a:xfrm>
            <a:off x="6400800" y="5486400"/>
            <a:ext cx="5394960" cy="274320"/>
          </a:xfrm>
          <a:prstGeom prst="rect">
            <a:avLst/>
          </a:prstGeom>
          <a:noFill/>
        </p:spPr>
        <p:txBody>
          <a:bodyPr wrap="square" anchor="t">
            <a:spAutoFit/>
          </a:bodyPr>
          <a:lstStyle/>
          <a:p>
            <a:pPr algn="ctr">
              <a:lnSpc>
                <a:spcPct val="100000"/>
              </a:lnSpc>
              <a:spcAft>
                <a:spcPts val="600"/>
              </a:spcAft>
            </a:pPr>
            <a:r>
              <a:rPr sz="1100" b="0">
                <a:solidFill>
                  <a:srgbClr val="64748B"/>
                </a:solidFill>
                <a:latin typeface="Inter"/>
              </a:rPr>
              <a:t>app/layout.tsx — four single-purpose providers</a:t>
            </a:r>
          </a:p>
        </p:txBody>
      </p:sp>
      <p:sp>
        <p:nvSpPr>
          <p:cNvPr id="8" name="TextBox 7"/>
          <p:cNvSpPr txBox="1"/>
          <p:nvPr/>
        </p:nvSpPr>
        <p:spPr>
          <a:xfrm>
            <a:off x="6400800" y="5806440"/>
            <a:ext cx="5394960" cy="457200"/>
          </a:xfrm>
          <a:prstGeom prst="rect">
            <a:avLst/>
          </a:prstGeom>
          <a:noFill/>
        </p:spPr>
        <p:txBody>
          <a:bodyPr wrap="square" anchor="t">
            <a:spAutoFit/>
          </a:bodyPr>
          <a:lstStyle/>
          <a:p>
            <a:pPr algn="ctr">
              <a:lnSpc>
                <a:spcPct val="100000"/>
              </a:lnSpc>
              <a:spcAft>
                <a:spcPts val="600"/>
              </a:spcAft>
            </a:pPr>
            <a:r>
              <a:rPr sz="1300" b="1">
                <a:solidFill>
                  <a:srgbClr val="0F172A"/>
                </a:solidFill>
                <a:latin typeface="Inter"/>
              </a:rPr>
              <a:t>PostgreSQL + row-level security beneath</a:t>
            </a:r>
          </a:p>
        </p:txBody>
      </p:sp>
      <p:sp>
        <p:nvSpPr>
          <p:cNvPr id="9" name="TextBox 8"/>
          <p:cNvSpPr txBox="1"/>
          <p:nvPr/>
        </p:nvSpPr>
        <p:spPr>
          <a:xfrm>
            <a:off x="411480" y="6473952"/>
            <a:ext cx="7315200" cy="320040"/>
          </a:xfrm>
          <a:prstGeom prst="rect">
            <a:avLst/>
          </a:prstGeom>
          <a:noFill/>
        </p:spPr>
        <p:txBody>
          <a:bodyPr wrap="square" anchor="t">
            <a:spAutoFit/>
          </a:bodyPr>
          <a:lstStyle/>
          <a:p>
            <a:pPr algn="l">
              <a:lnSpc>
                <a:spcPct val="100000"/>
              </a:lnSpc>
              <a:spcAft>
                <a:spcPts val="600"/>
              </a:spcAft>
            </a:pPr>
            <a:r>
              <a:rPr sz="1000" b="0">
                <a:solidFill>
                  <a:srgbClr val="64748B"/>
                </a:solidFill>
                <a:latin typeface="Inter"/>
              </a:rPr>
              <a:t>Pulse · FBLA Coding &amp; Programming 2025–26</a:t>
            </a:r>
          </a:p>
        </p:txBody>
      </p:sp>
      <p:sp>
        <p:nvSpPr>
          <p:cNvPr id="10" name="TextBox 9"/>
          <p:cNvSpPr txBox="1"/>
          <p:nvPr/>
        </p:nvSpPr>
        <p:spPr>
          <a:xfrm>
            <a:off x="11247120" y="6473952"/>
            <a:ext cx="548640" cy="320040"/>
          </a:xfrm>
          <a:prstGeom prst="rect">
            <a:avLst/>
          </a:prstGeom>
          <a:noFill/>
        </p:spPr>
        <p:txBody>
          <a:bodyPr wrap="square" anchor="t">
            <a:spAutoFit/>
          </a:bodyPr>
          <a:lstStyle/>
          <a:p>
            <a:pPr algn="r">
              <a:lnSpc>
                <a:spcPct val="100000"/>
              </a:lnSpc>
              <a:spcAft>
                <a:spcPts val="600"/>
              </a:spcAft>
            </a:pPr>
            <a:r>
              <a:rPr sz="1000" b="0">
                <a:solidFill>
                  <a:srgbClr val="64748B"/>
                </a:solidFill>
                <a:latin typeface="Inter"/>
              </a:rPr>
              <a:t>4</a:t>
            </a:r>
          </a:p>
        </p:txBody>
      </p:sp>
      <p:pic>
        <p:nvPicPr>
          <p:cNvPr id="11" name="Picture 10" descr="pulse-logo.png"/>
          <p:cNvPicPr>
            <a:picLocks noChangeAspect="1"/>
          </p:cNvPicPr>
          <p:nvPr/>
        </p:nvPicPr>
        <p:blipFill>
          <a:blip r:embed="rId4"/>
          <a:stretch>
            <a:fillRect/>
          </a:stretch>
        </p:blipFill>
        <p:spPr>
          <a:xfrm>
            <a:off x="11658600" y="6419088"/>
            <a:ext cx="292608" cy="29260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315200" cy="365760"/>
          </a:xfrm>
          <a:prstGeom prst="rect">
            <a:avLst/>
          </a:prstGeom>
          <a:noFill/>
        </p:spPr>
        <p:txBody>
          <a:bodyPr wrap="square" anchor="t">
            <a:spAutoFit/>
          </a:bodyPr>
          <a:lstStyle/>
          <a:p>
            <a:pPr algn="l">
              <a:lnSpc>
                <a:spcPct val="100000"/>
              </a:lnSpc>
              <a:spcAft>
                <a:spcPts val="600"/>
              </a:spcAft>
            </a:pPr>
            <a:r>
              <a:rPr sz="1300" b="1">
                <a:solidFill>
                  <a:srgbClr val="3B6EF6"/>
                </a:solidFill>
                <a:latin typeface="Inter"/>
              </a:rPr>
              <a:t>CODE QUALITY</a:t>
            </a:r>
          </a:p>
        </p:txBody>
      </p:sp>
      <p:sp>
        <p:nvSpPr>
          <p:cNvPr id="3" name="TextBox 2"/>
          <p:cNvSpPr txBox="1"/>
          <p:nvPr/>
        </p:nvSpPr>
        <p:spPr>
          <a:xfrm>
            <a:off x="411480" y="621792"/>
            <a:ext cx="11338560" cy="822960"/>
          </a:xfrm>
          <a:prstGeom prst="rect">
            <a:avLst/>
          </a:prstGeom>
          <a:noFill/>
        </p:spPr>
        <p:txBody>
          <a:bodyPr wrap="square" anchor="t">
            <a:spAutoFit/>
          </a:bodyPr>
          <a:lstStyle/>
          <a:p>
            <a:pPr algn="l">
              <a:lnSpc>
                <a:spcPct val="100000"/>
              </a:lnSpc>
              <a:spcAft>
                <a:spcPts val="600"/>
              </a:spcAft>
            </a:pPr>
            <a:r>
              <a:rPr sz="3400" b="1">
                <a:solidFill>
                  <a:srgbClr val="0F172A"/>
                </a:solidFill>
                <a:latin typeface="Inter"/>
              </a:rPr>
              <a:t>Every file tells you its job</a:t>
            </a:r>
          </a:p>
        </p:txBody>
      </p:sp>
      <p:pic>
        <p:nvPicPr>
          <p:cNvPr id="4" name="Picture 3" descr="code-comments.png"/>
          <p:cNvPicPr>
            <a:picLocks noChangeAspect="1"/>
          </p:cNvPicPr>
          <p:nvPr/>
        </p:nvPicPr>
        <p:blipFill>
          <a:blip r:embed="rId2"/>
          <a:stretch>
            <a:fillRect/>
          </a:stretch>
        </p:blipFill>
        <p:spPr>
          <a:xfrm>
            <a:off x="2646704" y="1508760"/>
            <a:ext cx="6868112" cy="4343400"/>
          </a:xfrm>
          <a:prstGeom prst="rect">
            <a:avLst/>
          </a:prstGeom>
          <a:ln w="12700">
            <a:solidFill>
              <a:srgbClr val="E2E8F0"/>
            </a:solidFill>
          </a:ln>
          <a:effectLst/>
        </p:spPr>
      </p:pic>
      <p:sp>
        <p:nvSpPr>
          <p:cNvPr id="5" name="TextBox 4"/>
          <p:cNvSpPr txBox="1"/>
          <p:nvPr/>
        </p:nvSpPr>
        <p:spPr>
          <a:xfrm>
            <a:off x="1554480" y="5897880"/>
            <a:ext cx="9052560" cy="274320"/>
          </a:xfrm>
          <a:prstGeom prst="rect">
            <a:avLst/>
          </a:prstGeom>
          <a:noFill/>
        </p:spPr>
        <p:txBody>
          <a:bodyPr wrap="square" anchor="t">
            <a:spAutoFit/>
          </a:bodyPr>
          <a:lstStyle/>
          <a:p>
            <a:pPr algn="ctr">
              <a:lnSpc>
                <a:spcPct val="100000"/>
              </a:lnSpc>
              <a:spcAft>
                <a:spcPts val="600"/>
              </a:spcAft>
            </a:pPr>
            <a:r>
              <a:rPr sz="1100" b="0">
                <a:solidFill>
                  <a:srgbClr val="64748B"/>
                </a:solidFill>
                <a:latin typeface="Inter"/>
              </a:rPr>
              <a:t>app/api/reviews/route.ts — User Journey · Input Validation · Accessibility · Bot Prevention</a:t>
            </a:r>
          </a:p>
        </p:txBody>
      </p:sp>
      <p:sp>
        <p:nvSpPr>
          <p:cNvPr id="6" name="TextBox 5"/>
          <p:cNvSpPr txBox="1"/>
          <p:nvPr/>
        </p:nvSpPr>
        <p:spPr>
          <a:xfrm>
            <a:off x="411480" y="6473952"/>
            <a:ext cx="7315200" cy="320040"/>
          </a:xfrm>
          <a:prstGeom prst="rect">
            <a:avLst/>
          </a:prstGeom>
          <a:noFill/>
        </p:spPr>
        <p:txBody>
          <a:bodyPr wrap="square" anchor="t">
            <a:spAutoFit/>
          </a:bodyPr>
          <a:lstStyle/>
          <a:p>
            <a:pPr algn="l">
              <a:lnSpc>
                <a:spcPct val="100000"/>
              </a:lnSpc>
              <a:spcAft>
                <a:spcPts val="600"/>
              </a:spcAft>
            </a:pPr>
            <a:r>
              <a:rPr sz="1000" b="0">
                <a:solidFill>
                  <a:srgbClr val="64748B"/>
                </a:solidFill>
                <a:latin typeface="Inter"/>
              </a:rPr>
              <a:t>Pulse · FBLA Coding &amp; Programming 2025–26</a:t>
            </a:r>
          </a:p>
        </p:txBody>
      </p:sp>
      <p:sp>
        <p:nvSpPr>
          <p:cNvPr id="7" name="TextBox 6"/>
          <p:cNvSpPr txBox="1"/>
          <p:nvPr/>
        </p:nvSpPr>
        <p:spPr>
          <a:xfrm>
            <a:off x="11247120" y="6473952"/>
            <a:ext cx="548640" cy="320040"/>
          </a:xfrm>
          <a:prstGeom prst="rect">
            <a:avLst/>
          </a:prstGeom>
          <a:noFill/>
        </p:spPr>
        <p:txBody>
          <a:bodyPr wrap="square" anchor="t">
            <a:spAutoFit/>
          </a:bodyPr>
          <a:lstStyle/>
          <a:p>
            <a:pPr algn="r">
              <a:lnSpc>
                <a:spcPct val="100000"/>
              </a:lnSpc>
              <a:spcAft>
                <a:spcPts val="600"/>
              </a:spcAft>
            </a:pPr>
            <a:r>
              <a:rPr sz="1000" b="0">
                <a:solidFill>
                  <a:srgbClr val="64748B"/>
                </a:solidFill>
                <a:latin typeface="Inter"/>
              </a:rPr>
              <a:t>5</a:t>
            </a:r>
          </a:p>
        </p:txBody>
      </p:sp>
      <p:pic>
        <p:nvPicPr>
          <p:cNvPr id="8" name="Picture 7" descr="pulse-logo.png"/>
          <p:cNvPicPr>
            <a:picLocks noChangeAspect="1"/>
          </p:cNvPicPr>
          <p:nvPr/>
        </p:nvPicPr>
        <p:blipFill>
          <a:blip r:embed="rId3"/>
          <a:stretch>
            <a:fillRect/>
          </a:stretch>
        </p:blipFill>
        <p:spPr>
          <a:xfrm>
            <a:off x="11658600" y="6419088"/>
            <a:ext cx="292608" cy="29260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315200" cy="365760"/>
          </a:xfrm>
          <a:prstGeom prst="rect">
            <a:avLst/>
          </a:prstGeom>
          <a:noFill/>
        </p:spPr>
        <p:txBody>
          <a:bodyPr wrap="square" anchor="t">
            <a:spAutoFit/>
          </a:bodyPr>
          <a:lstStyle/>
          <a:p>
            <a:pPr algn="l">
              <a:lnSpc>
                <a:spcPct val="100000"/>
              </a:lnSpc>
              <a:spcAft>
                <a:spcPts val="600"/>
              </a:spcAft>
            </a:pPr>
            <a:r>
              <a:rPr sz="1300" b="1">
                <a:solidFill>
                  <a:srgbClr val="3B6EF6"/>
                </a:solidFill>
                <a:latin typeface="Inter"/>
              </a:rPr>
              <a:t>UX DESIGN</a:t>
            </a:r>
          </a:p>
        </p:txBody>
      </p:sp>
      <p:sp>
        <p:nvSpPr>
          <p:cNvPr id="3" name="TextBox 2"/>
          <p:cNvSpPr txBox="1"/>
          <p:nvPr/>
        </p:nvSpPr>
        <p:spPr>
          <a:xfrm>
            <a:off x="411480" y="621792"/>
            <a:ext cx="11338560" cy="822960"/>
          </a:xfrm>
          <a:prstGeom prst="rect">
            <a:avLst/>
          </a:prstGeom>
          <a:noFill/>
        </p:spPr>
        <p:txBody>
          <a:bodyPr wrap="square" anchor="t">
            <a:spAutoFit/>
          </a:bodyPr>
          <a:lstStyle/>
          <a:p>
            <a:pPr algn="l">
              <a:lnSpc>
                <a:spcPct val="100000"/>
              </a:lnSpc>
              <a:spcAft>
                <a:spcPts val="600"/>
              </a:spcAft>
            </a:pPr>
            <a:r>
              <a:rPr sz="3400" b="1">
                <a:solidFill>
                  <a:srgbClr val="0F172A"/>
                </a:solidFill>
                <a:latin typeface="Inter"/>
              </a:rPr>
              <a:t>Designed for everyone</a:t>
            </a:r>
          </a:p>
        </p:txBody>
      </p:sp>
      <p:sp>
        <p:nvSpPr>
          <p:cNvPr id="4" name="Rounded Rectangle 3"/>
          <p:cNvSpPr/>
          <p:nvPr/>
        </p:nvSpPr>
        <p:spPr>
          <a:xfrm>
            <a:off x="411480" y="1691640"/>
            <a:ext cx="1463040" cy="566928"/>
          </a:xfrm>
          <a:prstGeom prst="roundRect">
            <a:avLst>
              <a:gd name="adj" fmla="val 8000"/>
            </a:avLst>
          </a:prstGeom>
          <a:solidFill>
            <a:srgbClr val="3B6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Inter"/>
              </a:rPr>
              <a:t>Discover</a:t>
            </a:r>
          </a:p>
        </p:txBody>
      </p:sp>
      <p:sp>
        <p:nvSpPr>
          <p:cNvPr id="5" name="TextBox 4"/>
          <p:cNvSpPr txBox="1"/>
          <p:nvPr/>
        </p:nvSpPr>
        <p:spPr>
          <a:xfrm>
            <a:off x="1874520" y="1691640"/>
            <a:ext cx="365760" cy="566928"/>
          </a:xfrm>
          <a:prstGeom prst="rect">
            <a:avLst/>
          </a:prstGeom>
          <a:noFill/>
        </p:spPr>
        <p:txBody>
          <a:bodyPr wrap="square" anchor="ctr">
            <a:spAutoFit/>
          </a:bodyPr>
          <a:lstStyle/>
          <a:p>
            <a:pPr algn="ctr">
              <a:lnSpc>
                <a:spcPct val="100000"/>
              </a:lnSpc>
              <a:spcAft>
                <a:spcPts val="600"/>
              </a:spcAft>
            </a:pPr>
            <a:r>
              <a:rPr sz="1800" b="0">
                <a:solidFill>
                  <a:srgbClr val="64748B"/>
                </a:solidFill>
                <a:latin typeface="Inter"/>
              </a:rPr>
              <a:t>→</a:t>
            </a:r>
          </a:p>
        </p:txBody>
      </p:sp>
      <p:sp>
        <p:nvSpPr>
          <p:cNvPr id="6" name="Rounded Rectangle 5"/>
          <p:cNvSpPr/>
          <p:nvPr/>
        </p:nvSpPr>
        <p:spPr>
          <a:xfrm>
            <a:off x="2240280" y="1691640"/>
            <a:ext cx="1463040" cy="566928"/>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0F172A"/>
                </a:solidFill>
                <a:latin typeface="Inter"/>
              </a:rPr>
              <a:t>Engage</a:t>
            </a:r>
          </a:p>
        </p:txBody>
      </p:sp>
      <p:sp>
        <p:nvSpPr>
          <p:cNvPr id="7" name="TextBox 6"/>
          <p:cNvSpPr txBox="1"/>
          <p:nvPr/>
        </p:nvSpPr>
        <p:spPr>
          <a:xfrm>
            <a:off x="3703320" y="1691640"/>
            <a:ext cx="365760" cy="566928"/>
          </a:xfrm>
          <a:prstGeom prst="rect">
            <a:avLst/>
          </a:prstGeom>
          <a:noFill/>
        </p:spPr>
        <p:txBody>
          <a:bodyPr wrap="square" anchor="ctr">
            <a:spAutoFit/>
          </a:bodyPr>
          <a:lstStyle/>
          <a:p>
            <a:pPr algn="ctr">
              <a:lnSpc>
                <a:spcPct val="100000"/>
              </a:lnSpc>
              <a:spcAft>
                <a:spcPts val="600"/>
              </a:spcAft>
            </a:pPr>
            <a:r>
              <a:rPr sz="1800" b="0">
                <a:solidFill>
                  <a:srgbClr val="64748B"/>
                </a:solidFill>
                <a:latin typeface="Inter"/>
              </a:rPr>
              <a:t>→</a:t>
            </a:r>
          </a:p>
        </p:txBody>
      </p:sp>
      <p:sp>
        <p:nvSpPr>
          <p:cNvPr id="8" name="Rounded Rectangle 7"/>
          <p:cNvSpPr/>
          <p:nvPr/>
        </p:nvSpPr>
        <p:spPr>
          <a:xfrm>
            <a:off x="4069080" y="1691640"/>
            <a:ext cx="1463040" cy="566928"/>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0F172A"/>
                </a:solidFill>
                <a:latin typeface="Inter"/>
              </a:rPr>
              <a:t>Impact</a:t>
            </a:r>
          </a:p>
        </p:txBody>
      </p:sp>
      <p:sp>
        <p:nvSpPr>
          <p:cNvPr id="9" name="TextBox 8"/>
          <p:cNvSpPr txBox="1"/>
          <p:nvPr/>
        </p:nvSpPr>
        <p:spPr>
          <a:xfrm>
            <a:off x="411480" y="2697480"/>
            <a:ext cx="5394960" cy="2926080"/>
          </a:xfrm>
          <a:prstGeom prst="rect">
            <a:avLst/>
          </a:prstGeom>
          <a:noFill/>
        </p:spPr>
        <p:txBody>
          <a:bodyPr wrap="square" anchor="t">
            <a:spAutoFit/>
          </a:bodyPr>
          <a:lstStyle/>
          <a:p>
            <a:pPr algn="l">
              <a:lnSpc>
                <a:spcPct val="115000"/>
              </a:lnSpc>
              <a:spcAft>
                <a:spcPts val="1000"/>
              </a:spcAft>
            </a:pPr>
            <a:r>
              <a:rPr sz="1500" b="0">
                <a:solidFill>
                  <a:srgbClr val="0F172A"/>
                </a:solidFill>
                <a:latin typeface="Inter"/>
              </a:rPr>
              <a:t>Skip-to-content link · full keyboard navigation</a:t>
            </a:r>
          </a:p>
          <a:p>
            <a:pPr algn="l">
              <a:lnSpc>
                <a:spcPct val="115000"/>
              </a:lnSpc>
              <a:spcAft>
                <a:spcPts val="1000"/>
              </a:spcAft>
            </a:pPr>
            <a:r>
              <a:rPr sz="1500" b="0">
                <a:solidFill>
                  <a:srgbClr val="0F172A"/>
                </a:solidFill>
                <a:latin typeface="Inter"/>
              </a:rPr>
              <a:t>Focus traps in dialogs · aria-live announcements</a:t>
            </a:r>
          </a:p>
          <a:p>
            <a:pPr algn="l">
              <a:lnSpc>
                <a:spcPct val="115000"/>
              </a:lnSpc>
              <a:spcAft>
                <a:spcPts val="1000"/>
              </a:spcAft>
            </a:pPr>
            <a:r>
              <a:rPr sz="1500" b="0">
                <a:solidFill>
                  <a:srgbClr val="0F172A"/>
                </a:solidFill>
                <a:latin typeface="Inter"/>
              </a:rPr>
              <a:t>WCAG contrast — light &amp; dark mode</a:t>
            </a:r>
          </a:p>
          <a:p>
            <a:pPr algn="l">
              <a:lnSpc>
                <a:spcPct val="115000"/>
              </a:lnSpc>
              <a:spcAft>
                <a:spcPts val="1000"/>
              </a:spcAft>
            </a:pPr>
            <a:r>
              <a:rPr sz="1500" b="0">
                <a:solidFill>
                  <a:srgbClr val="0F172A"/>
                </a:solidFill>
                <a:latin typeface="Inter"/>
              </a:rPr>
              <a:t>Honors reduced-motion preference</a:t>
            </a:r>
          </a:p>
          <a:p>
            <a:pPr algn="l">
              <a:lnSpc>
                <a:spcPct val="115000"/>
              </a:lnSpc>
              <a:spcAft>
                <a:spcPts val="1000"/>
              </a:spcAft>
            </a:pPr>
            <a:r>
              <a:rPr sz="1500" b="0">
                <a:solidFill>
                  <a:srgbClr val="0F172A"/>
                </a:solidFill>
                <a:latin typeface="Inter"/>
              </a:rPr>
              <a:t>Built-in onboarding tour + help menu</a:t>
            </a:r>
          </a:p>
        </p:txBody>
      </p:sp>
      <p:pic>
        <p:nvPicPr>
          <p:cNvPr id="10" name="Picture 9" descr="app-onboarding-tour.png"/>
          <p:cNvPicPr>
            <a:picLocks noChangeAspect="1"/>
          </p:cNvPicPr>
          <p:nvPr/>
        </p:nvPicPr>
        <p:blipFill>
          <a:blip r:embed="rId2"/>
          <a:stretch>
            <a:fillRect/>
          </a:stretch>
        </p:blipFill>
        <p:spPr>
          <a:xfrm>
            <a:off x="6035040" y="2004536"/>
            <a:ext cx="5715000" cy="3214687"/>
          </a:xfrm>
          <a:prstGeom prst="rect">
            <a:avLst/>
          </a:prstGeom>
          <a:ln w="12700">
            <a:solidFill>
              <a:srgbClr val="E2E8F0"/>
            </a:solidFill>
          </a:ln>
          <a:effectLst/>
        </p:spPr>
      </p:pic>
      <p:sp>
        <p:nvSpPr>
          <p:cNvPr id="11" name="TextBox 10"/>
          <p:cNvSpPr txBox="1"/>
          <p:nvPr/>
        </p:nvSpPr>
        <p:spPr>
          <a:xfrm>
            <a:off x="6035040" y="5669280"/>
            <a:ext cx="5715000" cy="274320"/>
          </a:xfrm>
          <a:prstGeom prst="rect">
            <a:avLst/>
          </a:prstGeom>
          <a:noFill/>
        </p:spPr>
        <p:txBody>
          <a:bodyPr wrap="square" anchor="t">
            <a:spAutoFit/>
          </a:bodyPr>
          <a:lstStyle/>
          <a:p>
            <a:pPr algn="ctr">
              <a:lnSpc>
                <a:spcPct val="100000"/>
              </a:lnSpc>
              <a:spcAft>
                <a:spcPts val="600"/>
              </a:spcAft>
            </a:pPr>
            <a:r>
              <a:rPr sz="1100" b="0">
                <a:solidFill>
                  <a:srgbClr val="64748B"/>
                </a:solidFill>
                <a:latin typeface="Inter"/>
              </a:rPr>
              <a:t>Onboarding tour — in-app instructions, no manual needed</a:t>
            </a:r>
          </a:p>
        </p:txBody>
      </p:sp>
      <p:sp>
        <p:nvSpPr>
          <p:cNvPr id="12" name="TextBox 11"/>
          <p:cNvSpPr txBox="1"/>
          <p:nvPr/>
        </p:nvSpPr>
        <p:spPr>
          <a:xfrm>
            <a:off x="411480" y="6473952"/>
            <a:ext cx="7315200" cy="320040"/>
          </a:xfrm>
          <a:prstGeom prst="rect">
            <a:avLst/>
          </a:prstGeom>
          <a:noFill/>
        </p:spPr>
        <p:txBody>
          <a:bodyPr wrap="square" anchor="t">
            <a:spAutoFit/>
          </a:bodyPr>
          <a:lstStyle/>
          <a:p>
            <a:pPr algn="l">
              <a:lnSpc>
                <a:spcPct val="100000"/>
              </a:lnSpc>
              <a:spcAft>
                <a:spcPts val="600"/>
              </a:spcAft>
            </a:pPr>
            <a:r>
              <a:rPr sz="1000" b="0">
                <a:solidFill>
                  <a:srgbClr val="64748B"/>
                </a:solidFill>
                <a:latin typeface="Inter"/>
              </a:rPr>
              <a:t>Pulse · FBLA Coding &amp; Programming 2025–26</a:t>
            </a:r>
          </a:p>
        </p:txBody>
      </p:sp>
      <p:sp>
        <p:nvSpPr>
          <p:cNvPr id="13" name="TextBox 12"/>
          <p:cNvSpPr txBox="1"/>
          <p:nvPr/>
        </p:nvSpPr>
        <p:spPr>
          <a:xfrm>
            <a:off x="11247120" y="6473952"/>
            <a:ext cx="548640" cy="320040"/>
          </a:xfrm>
          <a:prstGeom prst="rect">
            <a:avLst/>
          </a:prstGeom>
          <a:noFill/>
        </p:spPr>
        <p:txBody>
          <a:bodyPr wrap="square" anchor="t">
            <a:spAutoFit/>
          </a:bodyPr>
          <a:lstStyle/>
          <a:p>
            <a:pPr algn="r">
              <a:lnSpc>
                <a:spcPct val="100000"/>
              </a:lnSpc>
              <a:spcAft>
                <a:spcPts val="600"/>
              </a:spcAft>
            </a:pPr>
            <a:r>
              <a:rPr sz="1000" b="0">
                <a:solidFill>
                  <a:srgbClr val="64748B"/>
                </a:solidFill>
                <a:latin typeface="Inter"/>
              </a:rPr>
              <a:t>6</a:t>
            </a:r>
          </a:p>
        </p:txBody>
      </p:sp>
      <p:pic>
        <p:nvPicPr>
          <p:cNvPr id="14" name="Picture 13" descr="pulse-logo.png"/>
          <p:cNvPicPr>
            <a:picLocks noChangeAspect="1"/>
          </p:cNvPicPr>
          <p:nvPr/>
        </p:nvPicPr>
        <p:blipFill>
          <a:blip r:embed="rId3"/>
          <a:stretch>
            <a:fillRect/>
          </a:stretch>
        </p:blipFill>
        <p:spPr>
          <a:xfrm>
            <a:off x="11658600" y="6419088"/>
            <a:ext cx="292608" cy="29260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315200" cy="365760"/>
          </a:xfrm>
          <a:prstGeom prst="rect">
            <a:avLst/>
          </a:prstGeom>
          <a:noFill/>
        </p:spPr>
        <p:txBody>
          <a:bodyPr wrap="square" anchor="t">
            <a:spAutoFit/>
          </a:bodyPr>
          <a:lstStyle/>
          <a:p>
            <a:pPr algn="l">
              <a:lnSpc>
                <a:spcPct val="100000"/>
              </a:lnSpc>
              <a:spcAft>
                <a:spcPts val="600"/>
              </a:spcAft>
            </a:pPr>
            <a:r>
              <a:rPr sz="1300" b="1">
                <a:solidFill>
                  <a:srgbClr val="3B6EF6"/>
                </a:solidFill>
                <a:latin typeface="Inter"/>
              </a:rPr>
              <a:t>LIVE DEMO</a:t>
            </a:r>
          </a:p>
        </p:txBody>
      </p:sp>
      <p:sp>
        <p:nvSpPr>
          <p:cNvPr id="3" name="TextBox 2"/>
          <p:cNvSpPr txBox="1"/>
          <p:nvPr/>
        </p:nvSpPr>
        <p:spPr>
          <a:xfrm>
            <a:off x="411480" y="621792"/>
            <a:ext cx="11338560" cy="822960"/>
          </a:xfrm>
          <a:prstGeom prst="rect">
            <a:avLst/>
          </a:prstGeom>
          <a:noFill/>
        </p:spPr>
        <p:txBody>
          <a:bodyPr wrap="square" anchor="t">
            <a:spAutoFit/>
          </a:bodyPr>
          <a:lstStyle/>
          <a:p>
            <a:pPr algn="l">
              <a:lnSpc>
                <a:spcPct val="100000"/>
              </a:lnSpc>
              <a:spcAft>
                <a:spcPts val="600"/>
              </a:spcAft>
            </a:pPr>
            <a:r>
              <a:rPr sz="3400" b="1">
                <a:solidFill>
                  <a:srgbClr val="0F172A"/>
                </a:solidFill>
                <a:latin typeface="Inter"/>
              </a:rPr>
              <a:t>Watch every requirement, live</a:t>
            </a:r>
          </a:p>
        </p:txBody>
      </p:sp>
      <p:sp>
        <p:nvSpPr>
          <p:cNvPr id="4" name="TextBox 3"/>
          <p:cNvSpPr txBox="1"/>
          <p:nvPr/>
        </p:nvSpPr>
        <p:spPr>
          <a:xfrm>
            <a:off x="411480" y="1691640"/>
            <a:ext cx="4023360" cy="4206240"/>
          </a:xfrm>
          <a:prstGeom prst="rect">
            <a:avLst/>
          </a:prstGeom>
          <a:noFill/>
        </p:spPr>
        <p:txBody>
          <a:bodyPr wrap="square" anchor="t">
            <a:spAutoFit/>
          </a:bodyPr>
          <a:lstStyle/>
          <a:p>
            <a:pPr algn="l">
              <a:lnSpc>
                <a:spcPct val="110000"/>
              </a:lnSpc>
              <a:spcAft>
                <a:spcPts val="1200"/>
              </a:spcAft>
            </a:pPr>
            <a:r>
              <a:rPr sz="1600" b="1">
                <a:solidFill>
                  <a:srgbClr val="3B6EF6"/>
                </a:solidFill>
                <a:latin typeface="Inter"/>
              </a:rPr>
              <a:t>✓  </a:t>
            </a:r>
            <a:r>
              <a:rPr sz="1600" b="0">
                <a:solidFill>
                  <a:srgbClr val="0F172A"/>
                </a:solidFill>
                <a:latin typeface="Inter"/>
              </a:rPr>
              <a:t>Sort by category</a:t>
            </a:r>
          </a:p>
          <a:p>
            <a:pPr algn="l">
              <a:lnSpc>
                <a:spcPct val="110000"/>
              </a:lnSpc>
              <a:spcAft>
                <a:spcPts val="1200"/>
              </a:spcAft>
            </a:pPr>
            <a:r>
              <a:rPr sz="1600" b="1">
                <a:solidFill>
                  <a:srgbClr val="3B6EF6"/>
                </a:solidFill>
                <a:latin typeface="Inter"/>
              </a:rPr>
              <a:t>✓  </a:t>
            </a:r>
            <a:r>
              <a:rPr sz="1600" b="0">
                <a:solidFill>
                  <a:srgbClr val="0F172A"/>
                </a:solidFill>
                <a:latin typeface="Inter"/>
              </a:rPr>
              <a:t>Leave a review &amp; rating</a:t>
            </a:r>
          </a:p>
          <a:p>
            <a:pPr algn="l">
              <a:lnSpc>
                <a:spcPct val="110000"/>
              </a:lnSpc>
              <a:spcAft>
                <a:spcPts val="1200"/>
              </a:spcAft>
            </a:pPr>
            <a:r>
              <a:rPr sz="1600" b="1">
                <a:solidFill>
                  <a:srgbClr val="3B6EF6"/>
                </a:solidFill>
                <a:latin typeface="Inter"/>
              </a:rPr>
              <a:t>✓  </a:t>
            </a:r>
            <a:r>
              <a:rPr sz="1600" b="0">
                <a:solidFill>
                  <a:srgbClr val="0F172A"/>
                </a:solidFill>
                <a:latin typeface="Inter"/>
              </a:rPr>
              <a:t>Sort by ratings</a:t>
            </a:r>
          </a:p>
          <a:p>
            <a:pPr algn="l">
              <a:lnSpc>
                <a:spcPct val="110000"/>
              </a:lnSpc>
              <a:spcAft>
                <a:spcPts val="1200"/>
              </a:spcAft>
            </a:pPr>
            <a:r>
              <a:rPr sz="1600" b="1">
                <a:solidFill>
                  <a:srgbClr val="3B6EF6"/>
                </a:solidFill>
                <a:latin typeface="Inter"/>
              </a:rPr>
              <a:t>✓  </a:t>
            </a:r>
            <a:r>
              <a:rPr sz="1600" b="0">
                <a:solidFill>
                  <a:srgbClr val="0F172A"/>
                </a:solidFill>
                <a:latin typeface="Inter"/>
              </a:rPr>
              <a:t>Bookmark favorites</a:t>
            </a:r>
          </a:p>
          <a:p>
            <a:pPr algn="l">
              <a:lnSpc>
                <a:spcPct val="110000"/>
              </a:lnSpc>
              <a:spcAft>
                <a:spcPts val="1200"/>
              </a:spcAft>
            </a:pPr>
            <a:r>
              <a:rPr sz="1600" b="1">
                <a:solidFill>
                  <a:srgbClr val="3B6EF6"/>
                </a:solidFill>
                <a:latin typeface="Inter"/>
              </a:rPr>
              <a:t>✓  </a:t>
            </a:r>
            <a:r>
              <a:rPr sz="1600" b="0">
                <a:solidFill>
                  <a:srgbClr val="0F172A"/>
                </a:solidFill>
                <a:latin typeface="Inter"/>
              </a:rPr>
              <a:t>Claim deals &amp; coupons</a:t>
            </a:r>
          </a:p>
          <a:p>
            <a:pPr algn="l">
              <a:lnSpc>
                <a:spcPct val="110000"/>
              </a:lnSpc>
              <a:spcAft>
                <a:spcPts val="1200"/>
              </a:spcAft>
            </a:pPr>
            <a:r>
              <a:rPr sz="1600" b="1">
                <a:solidFill>
                  <a:srgbClr val="3B6EF6"/>
                </a:solidFill>
                <a:latin typeface="Inter"/>
              </a:rPr>
              <a:t>✓  </a:t>
            </a:r>
            <a:r>
              <a:rPr sz="1600" b="0">
                <a:solidFill>
                  <a:srgbClr val="0F172A"/>
                </a:solidFill>
                <a:latin typeface="Inter"/>
              </a:rPr>
              <a:t>Bot verification</a:t>
            </a:r>
          </a:p>
          <a:p>
            <a:pPr algn="l">
              <a:lnSpc>
                <a:spcPct val="110000"/>
              </a:lnSpc>
              <a:spcAft>
                <a:spcPts val="1200"/>
              </a:spcAft>
            </a:pPr>
            <a:r>
              <a:rPr sz="1600" b="1">
                <a:solidFill>
                  <a:srgbClr val="3B6EF6"/>
                </a:solidFill>
                <a:latin typeface="Inter"/>
              </a:rPr>
              <a:t>✓  </a:t>
            </a:r>
            <a:r>
              <a:rPr sz="1600" b="0">
                <a:solidFill>
                  <a:srgbClr val="0F172A"/>
                </a:solidFill>
                <a:latin typeface="Inter"/>
              </a:rPr>
              <a:t>Customizable impact report</a:t>
            </a:r>
          </a:p>
        </p:txBody>
      </p:sp>
      <p:pic>
        <p:nvPicPr>
          <p:cNvPr id="5" name="Picture 4" descr="app-category-sort.png"/>
          <p:cNvPicPr>
            <a:picLocks noChangeAspect="1"/>
          </p:cNvPicPr>
          <p:nvPr/>
        </p:nvPicPr>
        <p:blipFill>
          <a:blip r:embed="rId2"/>
          <a:stretch>
            <a:fillRect/>
          </a:stretch>
        </p:blipFill>
        <p:spPr>
          <a:xfrm>
            <a:off x="4663440" y="1648777"/>
            <a:ext cx="3566160" cy="2005965"/>
          </a:xfrm>
          <a:prstGeom prst="rect">
            <a:avLst/>
          </a:prstGeom>
          <a:ln w="12700">
            <a:solidFill>
              <a:srgbClr val="E2E8F0"/>
            </a:solidFill>
          </a:ln>
          <a:effectLst/>
        </p:spPr>
      </p:pic>
      <p:sp>
        <p:nvSpPr>
          <p:cNvPr id="6" name="TextBox 5"/>
          <p:cNvSpPr txBox="1"/>
          <p:nvPr/>
        </p:nvSpPr>
        <p:spPr>
          <a:xfrm>
            <a:off x="4663440" y="3675888"/>
            <a:ext cx="3566160" cy="274320"/>
          </a:xfrm>
          <a:prstGeom prst="rect">
            <a:avLst/>
          </a:prstGeom>
          <a:noFill/>
        </p:spPr>
        <p:txBody>
          <a:bodyPr wrap="square" anchor="t">
            <a:spAutoFit/>
          </a:bodyPr>
          <a:lstStyle/>
          <a:p>
            <a:pPr algn="ctr">
              <a:lnSpc>
                <a:spcPct val="100000"/>
              </a:lnSpc>
              <a:spcAft>
                <a:spcPts val="600"/>
              </a:spcAft>
            </a:pPr>
            <a:r>
              <a:rPr sz="1100" b="0">
                <a:solidFill>
                  <a:srgbClr val="64748B"/>
                </a:solidFill>
                <a:latin typeface="Inter"/>
              </a:rPr>
              <a:t>Category sort</a:t>
            </a:r>
          </a:p>
        </p:txBody>
      </p:sp>
      <p:pic>
        <p:nvPicPr>
          <p:cNvPr id="7" name="Picture 6" descr="app-rating-sort.png"/>
          <p:cNvPicPr>
            <a:picLocks noChangeAspect="1"/>
          </p:cNvPicPr>
          <p:nvPr/>
        </p:nvPicPr>
        <p:blipFill>
          <a:blip r:embed="rId3"/>
          <a:stretch>
            <a:fillRect/>
          </a:stretch>
        </p:blipFill>
        <p:spPr>
          <a:xfrm>
            <a:off x="8366759" y="1648777"/>
            <a:ext cx="3566160" cy="2005965"/>
          </a:xfrm>
          <a:prstGeom prst="rect">
            <a:avLst/>
          </a:prstGeom>
          <a:ln w="12700">
            <a:solidFill>
              <a:srgbClr val="E2E8F0"/>
            </a:solidFill>
          </a:ln>
          <a:effectLst/>
        </p:spPr>
      </p:pic>
      <p:sp>
        <p:nvSpPr>
          <p:cNvPr id="8" name="TextBox 7"/>
          <p:cNvSpPr txBox="1"/>
          <p:nvPr/>
        </p:nvSpPr>
        <p:spPr>
          <a:xfrm>
            <a:off x="8366759" y="3675888"/>
            <a:ext cx="3566160" cy="274320"/>
          </a:xfrm>
          <a:prstGeom prst="rect">
            <a:avLst/>
          </a:prstGeom>
          <a:noFill/>
        </p:spPr>
        <p:txBody>
          <a:bodyPr wrap="square" anchor="t">
            <a:spAutoFit/>
          </a:bodyPr>
          <a:lstStyle/>
          <a:p>
            <a:pPr algn="ctr">
              <a:lnSpc>
                <a:spcPct val="100000"/>
              </a:lnSpc>
              <a:spcAft>
                <a:spcPts val="600"/>
              </a:spcAft>
            </a:pPr>
            <a:r>
              <a:rPr sz="1100" b="0">
                <a:solidFill>
                  <a:srgbClr val="64748B"/>
                </a:solidFill>
                <a:latin typeface="Inter"/>
              </a:rPr>
              <a:t>Sort by rating</a:t>
            </a:r>
          </a:p>
        </p:txBody>
      </p:sp>
      <p:pic>
        <p:nvPicPr>
          <p:cNvPr id="9" name="Picture 8" descr="app-bookmarks.png"/>
          <p:cNvPicPr>
            <a:picLocks noChangeAspect="1"/>
          </p:cNvPicPr>
          <p:nvPr/>
        </p:nvPicPr>
        <p:blipFill>
          <a:blip r:embed="rId4"/>
          <a:stretch>
            <a:fillRect/>
          </a:stretch>
        </p:blipFill>
        <p:spPr>
          <a:xfrm>
            <a:off x="4663440" y="3980496"/>
            <a:ext cx="3566160" cy="2005965"/>
          </a:xfrm>
          <a:prstGeom prst="rect">
            <a:avLst/>
          </a:prstGeom>
          <a:ln w="12700">
            <a:solidFill>
              <a:srgbClr val="E2E8F0"/>
            </a:solidFill>
          </a:ln>
          <a:effectLst/>
        </p:spPr>
      </p:pic>
      <p:sp>
        <p:nvSpPr>
          <p:cNvPr id="10" name="TextBox 9"/>
          <p:cNvSpPr txBox="1"/>
          <p:nvPr/>
        </p:nvSpPr>
        <p:spPr>
          <a:xfrm>
            <a:off x="4663440" y="6007607"/>
            <a:ext cx="3566160" cy="274320"/>
          </a:xfrm>
          <a:prstGeom prst="rect">
            <a:avLst/>
          </a:prstGeom>
          <a:noFill/>
        </p:spPr>
        <p:txBody>
          <a:bodyPr wrap="square" anchor="t">
            <a:spAutoFit/>
          </a:bodyPr>
          <a:lstStyle/>
          <a:p>
            <a:pPr algn="ctr">
              <a:lnSpc>
                <a:spcPct val="100000"/>
              </a:lnSpc>
              <a:spcAft>
                <a:spcPts val="600"/>
              </a:spcAft>
            </a:pPr>
            <a:r>
              <a:rPr sz="1100" b="0">
                <a:solidFill>
                  <a:srgbClr val="64748B"/>
                </a:solidFill>
                <a:latin typeface="Inter"/>
              </a:rPr>
              <a:t>Bookmarks</a:t>
            </a:r>
          </a:p>
        </p:txBody>
      </p:sp>
      <p:pic>
        <p:nvPicPr>
          <p:cNvPr id="11" name="Picture 10" descr="app-deals.png"/>
          <p:cNvPicPr>
            <a:picLocks noChangeAspect="1"/>
          </p:cNvPicPr>
          <p:nvPr/>
        </p:nvPicPr>
        <p:blipFill>
          <a:blip r:embed="rId5"/>
          <a:stretch>
            <a:fillRect/>
          </a:stretch>
        </p:blipFill>
        <p:spPr>
          <a:xfrm>
            <a:off x="8366759" y="3980496"/>
            <a:ext cx="3566160" cy="2005965"/>
          </a:xfrm>
          <a:prstGeom prst="rect">
            <a:avLst/>
          </a:prstGeom>
          <a:ln w="12700">
            <a:solidFill>
              <a:srgbClr val="E2E8F0"/>
            </a:solidFill>
          </a:ln>
          <a:effectLst/>
        </p:spPr>
      </p:pic>
      <p:sp>
        <p:nvSpPr>
          <p:cNvPr id="12" name="TextBox 11"/>
          <p:cNvSpPr txBox="1"/>
          <p:nvPr/>
        </p:nvSpPr>
        <p:spPr>
          <a:xfrm>
            <a:off x="8366759" y="6007607"/>
            <a:ext cx="3566160" cy="274320"/>
          </a:xfrm>
          <a:prstGeom prst="rect">
            <a:avLst/>
          </a:prstGeom>
          <a:noFill/>
        </p:spPr>
        <p:txBody>
          <a:bodyPr wrap="square" anchor="t">
            <a:spAutoFit/>
          </a:bodyPr>
          <a:lstStyle/>
          <a:p>
            <a:pPr algn="ctr">
              <a:lnSpc>
                <a:spcPct val="100000"/>
              </a:lnSpc>
              <a:spcAft>
                <a:spcPts val="600"/>
              </a:spcAft>
            </a:pPr>
            <a:r>
              <a:rPr sz="1100" b="0">
                <a:solidFill>
                  <a:srgbClr val="64748B"/>
                </a:solidFill>
                <a:latin typeface="Inter"/>
              </a:rPr>
              <a:t>Deals &amp; claims</a:t>
            </a:r>
          </a:p>
        </p:txBody>
      </p:sp>
      <p:sp>
        <p:nvSpPr>
          <p:cNvPr id="13" name="TextBox 12"/>
          <p:cNvSpPr txBox="1"/>
          <p:nvPr/>
        </p:nvSpPr>
        <p:spPr>
          <a:xfrm>
            <a:off x="411480" y="6473952"/>
            <a:ext cx="7315200" cy="320040"/>
          </a:xfrm>
          <a:prstGeom prst="rect">
            <a:avLst/>
          </a:prstGeom>
          <a:noFill/>
        </p:spPr>
        <p:txBody>
          <a:bodyPr wrap="square" anchor="t">
            <a:spAutoFit/>
          </a:bodyPr>
          <a:lstStyle/>
          <a:p>
            <a:pPr algn="l">
              <a:lnSpc>
                <a:spcPct val="100000"/>
              </a:lnSpc>
              <a:spcAft>
                <a:spcPts val="600"/>
              </a:spcAft>
            </a:pPr>
            <a:r>
              <a:rPr sz="1000" b="0">
                <a:solidFill>
                  <a:srgbClr val="64748B"/>
                </a:solidFill>
                <a:latin typeface="Inter"/>
              </a:rPr>
              <a:t>Pulse · FBLA Coding &amp; Programming 2025–26</a:t>
            </a:r>
          </a:p>
        </p:txBody>
      </p:sp>
      <p:sp>
        <p:nvSpPr>
          <p:cNvPr id="14" name="TextBox 13"/>
          <p:cNvSpPr txBox="1"/>
          <p:nvPr/>
        </p:nvSpPr>
        <p:spPr>
          <a:xfrm>
            <a:off x="11247120" y="6473952"/>
            <a:ext cx="548640" cy="320040"/>
          </a:xfrm>
          <a:prstGeom prst="rect">
            <a:avLst/>
          </a:prstGeom>
          <a:noFill/>
        </p:spPr>
        <p:txBody>
          <a:bodyPr wrap="square" anchor="t">
            <a:spAutoFit/>
          </a:bodyPr>
          <a:lstStyle/>
          <a:p>
            <a:pPr algn="r">
              <a:lnSpc>
                <a:spcPct val="100000"/>
              </a:lnSpc>
              <a:spcAft>
                <a:spcPts val="600"/>
              </a:spcAft>
            </a:pPr>
            <a:r>
              <a:rPr sz="1000" b="0">
                <a:solidFill>
                  <a:srgbClr val="64748B"/>
                </a:solidFill>
                <a:latin typeface="Inter"/>
              </a:rPr>
              <a:t>7</a:t>
            </a:r>
          </a:p>
        </p:txBody>
      </p:sp>
      <p:pic>
        <p:nvPicPr>
          <p:cNvPr id="15" name="Picture 14" descr="pulse-logo.png"/>
          <p:cNvPicPr>
            <a:picLocks noChangeAspect="1"/>
          </p:cNvPicPr>
          <p:nvPr/>
        </p:nvPicPr>
        <p:blipFill>
          <a:blip r:embed="rId6"/>
          <a:stretch>
            <a:fillRect/>
          </a:stretch>
        </p:blipFill>
        <p:spPr>
          <a:xfrm>
            <a:off x="11658600" y="6419088"/>
            <a:ext cx="292608" cy="29260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315200" cy="365760"/>
          </a:xfrm>
          <a:prstGeom prst="rect">
            <a:avLst/>
          </a:prstGeom>
          <a:noFill/>
        </p:spPr>
        <p:txBody>
          <a:bodyPr wrap="square" anchor="t">
            <a:spAutoFit/>
          </a:bodyPr>
          <a:lstStyle/>
          <a:p>
            <a:pPr algn="l">
              <a:lnSpc>
                <a:spcPct val="100000"/>
              </a:lnSpc>
              <a:spcAft>
                <a:spcPts val="600"/>
              </a:spcAft>
            </a:pPr>
            <a:r>
              <a:rPr sz="1300" b="1">
                <a:solidFill>
                  <a:srgbClr val="3B6EF6"/>
                </a:solidFill>
                <a:latin typeface="Inter"/>
              </a:rPr>
              <a:t>INTELLIGENT FEATURE</a:t>
            </a:r>
          </a:p>
        </p:txBody>
      </p:sp>
      <p:sp>
        <p:nvSpPr>
          <p:cNvPr id="3" name="TextBox 2"/>
          <p:cNvSpPr txBox="1"/>
          <p:nvPr/>
        </p:nvSpPr>
        <p:spPr>
          <a:xfrm>
            <a:off x="411480" y="621792"/>
            <a:ext cx="11338560" cy="822960"/>
          </a:xfrm>
          <a:prstGeom prst="rect">
            <a:avLst/>
          </a:prstGeom>
          <a:noFill/>
        </p:spPr>
        <p:txBody>
          <a:bodyPr wrap="square" anchor="t">
            <a:spAutoFit/>
          </a:bodyPr>
          <a:lstStyle/>
          <a:p>
            <a:pPr algn="l">
              <a:lnSpc>
                <a:spcPct val="100000"/>
              </a:lnSpc>
              <a:spcAft>
                <a:spcPts val="600"/>
              </a:spcAft>
            </a:pPr>
            <a:r>
              <a:rPr sz="3400" b="1">
                <a:solidFill>
                  <a:srgbClr val="0F172A"/>
                </a:solidFill>
                <a:latin typeface="Inter"/>
              </a:rPr>
              <a:t>AI assistant with retrieval-augmented generation</a:t>
            </a:r>
          </a:p>
        </p:txBody>
      </p:sp>
      <p:sp>
        <p:nvSpPr>
          <p:cNvPr id="4" name="Rounded Rectangle 3"/>
          <p:cNvSpPr/>
          <p:nvPr/>
        </p:nvSpPr>
        <p:spPr>
          <a:xfrm>
            <a:off x="411480" y="1645920"/>
            <a:ext cx="1993392" cy="77724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F172A"/>
                </a:solidFill>
                <a:latin typeface="Inter"/>
              </a:rPr>
              <a:t>User query</a:t>
            </a:r>
          </a:p>
        </p:txBody>
      </p:sp>
      <p:sp>
        <p:nvSpPr>
          <p:cNvPr id="5" name="TextBox 4"/>
          <p:cNvSpPr txBox="1"/>
          <p:nvPr/>
        </p:nvSpPr>
        <p:spPr>
          <a:xfrm>
            <a:off x="2368296" y="1645920"/>
            <a:ext cx="384048" cy="777240"/>
          </a:xfrm>
          <a:prstGeom prst="rect">
            <a:avLst/>
          </a:prstGeom>
          <a:noFill/>
        </p:spPr>
        <p:txBody>
          <a:bodyPr wrap="square" anchor="ctr">
            <a:spAutoFit/>
          </a:bodyPr>
          <a:lstStyle/>
          <a:p>
            <a:pPr algn="ctr">
              <a:lnSpc>
                <a:spcPct val="100000"/>
              </a:lnSpc>
              <a:spcAft>
                <a:spcPts val="600"/>
              </a:spcAft>
            </a:pPr>
            <a:r>
              <a:rPr sz="1600" b="0">
                <a:solidFill>
                  <a:srgbClr val="64748B"/>
                </a:solidFill>
                <a:latin typeface="Inter"/>
              </a:rPr>
              <a:t>→</a:t>
            </a:r>
          </a:p>
        </p:txBody>
      </p:sp>
      <p:sp>
        <p:nvSpPr>
          <p:cNvPr id="6" name="Rounded Rectangle 5"/>
          <p:cNvSpPr/>
          <p:nvPr/>
        </p:nvSpPr>
        <p:spPr>
          <a:xfrm>
            <a:off x="2752344" y="1645920"/>
            <a:ext cx="1993392" cy="77724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F172A"/>
                </a:solidFill>
                <a:latin typeface="Inter"/>
              </a:rPr>
              <a:t>Extract keywords</a:t>
            </a:r>
          </a:p>
        </p:txBody>
      </p:sp>
      <p:sp>
        <p:nvSpPr>
          <p:cNvPr id="7" name="TextBox 6"/>
          <p:cNvSpPr txBox="1"/>
          <p:nvPr/>
        </p:nvSpPr>
        <p:spPr>
          <a:xfrm>
            <a:off x="4709160" y="1645920"/>
            <a:ext cx="384048" cy="777240"/>
          </a:xfrm>
          <a:prstGeom prst="rect">
            <a:avLst/>
          </a:prstGeom>
          <a:noFill/>
        </p:spPr>
        <p:txBody>
          <a:bodyPr wrap="square" anchor="ctr">
            <a:spAutoFit/>
          </a:bodyPr>
          <a:lstStyle/>
          <a:p>
            <a:pPr algn="ctr">
              <a:lnSpc>
                <a:spcPct val="100000"/>
              </a:lnSpc>
              <a:spcAft>
                <a:spcPts val="600"/>
              </a:spcAft>
            </a:pPr>
            <a:r>
              <a:rPr sz="1600" b="0">
                <a:solidFill>
                  <a:srgbClr val="64748B"/>
                </a:solidFill>
                <a:latin typeface="Inter"/>
              </a:rPr>
              <a:t>→</a:t>
            </a:r>
          </a:p>
        </p:txBody>
      </p:sp>
      <p:sp>
        <p:nvSpPr>
          <p:cNvPr id="8" name="Rounded Rectangle 7"/>
          <p:cNvSpPr/>
          <p:nvPr/>
        </p:nvSpPr>
        <p:spPr>
          <a:xfrm>
            <a:off x="5093208" y="1645920"/>
            <a:ext cx="1993392" cy="77724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F172A"/>
                </a:solidFill>
                <a:latin typeface="Inter"/>
              </a:rPr>
              <a:t>Detect category</a:t>
            </a:r>
          </a:p>
          <a:p>
            <a:pPr algn="ctr"/>
            <a:r>
              <a:rPr sz="1200" b="1">
                <a:solidFill>
                  <a:srgbClr val="0F172A"/>
                </a:solidFill>
                <a:latin typeface="Inter"/>
              </a:rPr>
              <a:t>+ amenities</a:t>
            </a:r>
          </a:p>
        </p:txBody>
      </p:sp>
      <p:sp>
        <p:nvSpPr>
          <p:cNvPr id="9" name="TextBox 8"/>
          <p:cNvSpPr txBox="1"/>
          <p:nvPr/>
        </p:nvSpPr>
        <p:spPr>
          <a:xfrm>
            <a:off x="7050024" y="1645920"/>
            <a:ext cx="384048" cy="777240"/>
          </a:xfrm>
          <a:prstGeom prst="rect">
            <a:avLst/>
          </a:prstGeom>
          <a:noFill/>
        </p:spPr>
        <p:txBody>
          <a:bodyPr wrap="square" anchor="ctr">
            <a:spAutoFit/>
          </a:bodyPr>
          <a:lstStyle/>
          <a:p>
            <a:pPr algn="ctr">
              <a:lnSpc>
                <a:spcPct val="100000"/>
              </a:lnSpc>
              <a:spcAft>
                <a:spcPts val="600"/>
              </a:spcAft>
            </a:pPr>
            <a:r>
              <a:rPr sz="1600" b="0">
                <a:solidFill>
                  <a:srgbClr val="64748B"/>
                </a:solidFill>
                <a:latin typeface="Inter"/>
              </a:rPr>
              <a:t>→</a:t>
            </a:r>
          </a:p>
        </p:txBody>
      </p:sp>
      <p:sp>
        <p:nvSpPr>
          <p:cNvPr id="10" name="Rounded Rectangle 9"/>
          <p:cNvSpPr/>
          <p:nvPr/>
        </p:nvSpPr>
        <p:spPr>
          <a:xfrm>
            <a:off x="7434072" y="1645920"/>
            <a:ext cx="1993392" cy="77724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F172A"/>
                </a:solidFill>
                <a:latin typeface="Inter"/>
              </a:rPr>
              <a:t>Retrieve real</a:t>
            </a:r>
          </a:p>
          <a:p>
            <a:pPr algn="ctr"/>
            <a:r>
              <a:rPr sz="1200" b="1">
                <a:solidFill>
                  <a:srgbClr val="0F172A"/>
                </a:solidFill>
                <a:latin typeface="Inter"/>
              </a:rPr>
              <a:t>businesses</a:t>
            </a:r>
          </a:p>
        </p:txBody>
      </p:sp>
      <p:sp>
        <p:nvSpPr>
          <p:cNvPr id="11" name="TextBox 10"/>
          <p:cNvSpPr txBox="1"/>
          <p:nvPr/>
        </p:nvSpPr>
        <p:spPr>
          <a:xfrm>
            <a:off x="9390888" y="1645920"/>
            <a:ext cx="384048" cy="777240"/>
          </a:xfrm>
          <a:prstGeom prst="rect">
            <a:avLst/>
          </a:prstGeom>
          <a:noFill/>
        </p:spPr>
        <p:txBody>
          <a:bodyPr wrap="square" anchor="ctr">
            <a:spAutoFit/>
          </a:bodyPr>
          <a:lstStyle/>
          <a:p>
            <a:pPr algn="ctr">
              <a:lnSpc>
                <a:spcPct val="100000"/>
              </a:lnSpc>
              <a:spcAft>
                <a:spcPts val="600"/>
              </a:spcAft>
            </a:pPr>
            <a:r>
              <a:rPr sz="1600" b="0">
                <a:solidFill>
                  <a:srgbClr val="64748B"/>
                </a:solidFill>
                <a:latin typeface="Inter"/>
              </a:rPr>
              <a:t>→</a:t>
            </a:r>
          </a:p>
        </p:txBody>
      </p:sp>
      <p:sp>
        <p:nvSpPr>
          <p:cNvPr id="12" name="Rounded Rectangle 11"/>
          <p:cNvSpPr/>
          <p:nvPr/>
        </p:nvSpPr>
        <p:spPr>
          <a:xfrm>
            <a:off x="9774936" y="1645920"/>
            <a:ext cx="1993392" cy="777240"/>
          </a:xfrm>
          <a:prstGeom prst="roundRect">
            <a:avLst>
              <a:gd name="adj" fmla="val 8000"/>
            </a:avLst>
          </a:prstGeom>
          <a:solidFill>
            <a:srgbClr val="3B6E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Inter"/>
              </a:rPr>
              <a:t>Gemini answers</a:t>
            </a:r>
          </a:p>
        </p:txBody>
      </p:sp>
      <p:pic>
        <p:nvPicPr>
          <p:cNvPr id="13" name="Picture 12" descr="app-intelligent-feature.png"/>
          <p:cNvPicPr>
            <a:picLocks noChangeAspect="1"/>
          </p:cNvPicPr>
          <p:nvPr/>
        </p:nvPicPr>
        <p:blipFill>
          <a:blip r:embed="rId2"/>
          <a:stretch>
            <a:fillRect/>
          </a:stretch>
        </p:blipFill>
        <p:spPr>
          <a:xfrm>
            <a:off x="584200" y="2743200"/>
            <a:ext cx="5689600" cy="3200400"/>
          </a:xfrm>
          <a:prstGeom prst="rect">
            <a:avLst/>
          </a:prstGeom>
          <a:ln w="12700">
            <a:solidFill>
              <a:srgbClr val="E2E8F0"/>
            </a:solidFill>
          </a:ln>
          <a:effectLst/>
        </p:spPr>
      </p:pic>
      <p:sp>
        <p:nvSpPr>
          <p:cNvPr id="14" name="TextBox 13"/>
          <p:cNvSpPr txBox="1"/>
          <p:nvPr/>
        </p:nvSpPr>
        <p:spPr>
          <a:xfrm>
            <a:off x="411480" y="5989320"/>
            <a:ext cx="6035040" cy="274320"/>
          </a:xfrm>
          <a:prstGeom prst="rect">
            <a:avLst/>
          </a:prstGeom>
          <a:noFill/>
        </p:spPr>
        <p:txBody>
          <a:bodyPr wrap="square" anchor="t">
            <a:spAutoFit/>
          </a:bodyPr>
          <a:lstStyle/>
          <a:p>
            <a:pPr algn="ctr">
              <a:lnSpc>
                <a:spcPct val="100000"/>
              </a:lnSpc>
              <a:spcAft>
                <a:spcPts val="600"/>
              </a:spcAft>
            </a:pPr>
            <a:r>
              <a:rPr sz="1100" b="0">
                <a:solidFill>
                  <a:srgbClr val="64748B"/>
                </a:solidFill>
                <a:latin typeface="Inter"/>
              </a:rPr>
              <a:t>Assistant answering from live business data</a:t>
            </a:r>
          </a:p>
        </p:txBody>
      </p:sp>
      <p:pic>
        <p:nvPicPr>
          <p:cNvPr id="15" name="Picture 14" descr="code-intelligent-feature.png"/>
          <p:cNvPicPr>
            <a:picLocks noChangeAspect="1"/>
          </p:cNvPicPr>
          <p:nvPr/>
        </p:nvPicPr>
        <p:blipFill>
          <a:blip r:embed="rId3"/>
          <a:stretch>
            <a:fillRect/>
          </a:stretch>
        </p:blipFill>
        <p:spPr>
          <a:xfrm>
            <a:off x="7586980" y="2697480"/>
            <a:ext cx="3342640" cy="3291840"/>
          </a:xfrm>
          <a:prstGeom prst="rect">
            <a:avLst/>
          </a:prstGeom>
          <a:ln w="12700">
            <a:solidFill>
              <a:srgbClr val="E2E8F0"/>
            </a:solidFill>
          </a:ln>
          <a:effectLst/>
        </p:spPr>
      </p:pic>
      <p:sp>
        <p:nvSpPr>
          <p:cNvPr id="16" name="TextBox 15"/>
          <p:cNvSpPr txBox="1"/>
          <p:nvPr/>
        </p:nvSpPr>
        <p:spPr>
          <a:xfrm>
            <a:off x="6720840" y="5989320"/>
            <a:ext cx="5074920" cy="274320"/>
          </a:xfrm>
          <a:prstGeom prst="rect">
            <a:avLst/>
          </a:prstGeom>
          <a:noFill/>
        </p:spPr>
        <p:txBody>
          <a:bodyPr wrap="square" anchor="t">
            <a:spAutoFit/>
          </a:bodyPr>
          <a:lstStyle/>
          <a:p>
            <a:pPr algn="ctr">
              <a:lnSpc>
                <a:spcPct val="100000"/>
              </a:lnSpc>
              <a:spcAft>
                <a:spcPts val="600"/>
              </a:spcAft>
            </a:pPr>
            <a:r>
              <a:rPr sz="1100" b="0">
                <a:solidFill>
                  <a:srgbClr val="64748B"/>
                </a:solidFill>
                <a:latin typeface="Inter"/>
              </a:rPr>
              <a:t>lib/assistant — query-type routing</a:t>
            </a:r>
          </a:p>
        </p:txBody>
      </p:sp>
      <p:sp>
        <p:nvSpPr>
          <p:cNvPr id="17" name="TextBox 16"/>
          <p:cNvSpPr txBox="1"/>
          <p:nvPr/>
        </p:nvSpPr>
        <p:spPr>
          <a:xfrm>
            <a:off x="411480" y="6263640"/>
            <a:ext cx="11338560" cy="274320"/>
          </a:xfrm>
          <a:prstGeom prst="rect">
            <a:avLst/>
          </a:prstGeom>
          <a:noFill/>
        </p:spPr>
        <p:txBody>
          <a:bodyPr wrap="square" anchor="t">
            <a:spAutoFit/>
          </a:bodyPr>
          <a:lstStyle/>
          <a:p>
            <a:pPr algn="l">
              <a:lnSpc>
                <a:spcPct val="100000"/>
              </a:lnSpc>
              <a:spcAft>
                <a:spcPts val="600"/>
              </a:spcAft>
            </a:pPr>
            <a:r>
              <a:rPr sz="1300" b="1">
                <a:solidFill>
                  <a:srgbClr val="0F172A"/>
                </a:solidFill>
                <a:latin typeface="Inter"/>
              </a:rPr>
              <a:t>Real data, never hallucinated — prompt-injection filtered.</a:t>
            </a:r>
          </a:p>
        </p:txBody>
      </p:sp>
      <p:sp>
        <p:nvSpPr>
          <p:cNvPr id="18" name="TextBox 17"/>
          <p:cNvSpPr txBox="1"/>
          <p:nvPr/>
        </p:nvSpPr>
        <p:spPr>
          <a:xfrm>
            <a:off x="411480" y="6473952"/>
            <a:ext cx="7315200" cy="320040"/>
          </a:xfrm>
          <a:prstGeom prst="rect">
            <a:avLst/>
          </a:prstGeom>
          <a:noFill/>
        </p:spPr>
        <p:txBody>
          <a:bodyPr wrap="square" anchor="t">
            <a:spAutoFit/>
          </a:bodyPr>
          <a:lstStyle/>
          <a:p>
            <a:pPr algn="l">
              <a:lnSpc>
                <a:spcPct val="100000"/>
              </a:lnSpc>
              <a:spcAft>
                <a:spcPts val="600"/>
              </a:spcAft>
            </a:pPr>
            <a:r>
              <a:rPr sz="1000" b="0">
                <a:solidFill>
                  <a:srgbClr val="64748B"/>
                </a:solidFill>
                <a:latin typeface="Inter"/>
              </a:rPr>
              <a:t>Pulse · FBLA Coding &amp; Programming 2025–26</a:t>
            </a:r>
          </a:p>
        </p:txBody>
      </p:sp>
      <p:sp>
        <p:nvSpPr>
          <p:cNvPr id="19" name="TextBox 18"/>
          <p:cNvSpPr txBox="1"/>
          <p:nvPr/>
        </p:nvSpPr>
        <p:spPr>
          <a:xfrm>
            <a:off x="11247120" y="6473952"/>
            <a:ext cx="548640" cy="320040"/>
          </a:xfrm>
          <a:prstGeom prst="rect">
            <a:avLst/>
          </a:prstGeom>
          <a:noFill/>
        </p:spPr>
        <p:txBody>
          <a:bodyPr wrap="square" anchor="t">
            <a:spAutoFit/>
          </a:bodyPr>
          <a:lstStyle/>
          <a:p>
            <a:pPr algn="r">
              <a:lnSpc>
                <a:spcPct val="100000"/>
              </a:lnSpc>
              <a:spcAft>
                <a:spcPts val="600"/>
              </a:spcAft>
            </a:pPr>
            <a:r>
              <a:rPr sz="1000" b="0">
                <a:solidFill>
                  <a:srgbClr val="64748B"/>
                </a:solidFill>
                <a:latin typeface="Inter"/>
              </a:rPr>
              <a:t>8</a:t>
            </a:r>
          </a:p>
        </p:txBody>
      </p:sp>
      <p:pic>
        <p:nvPicPr>
          <p:cNvPr id="20" name="Picture 19" descr="pulse-logo.png"/>
          <p:cNvPicPr>
            <a:picLocks noChangeAspect="1"/>
          </p:cNvPicPr>
          <p:nvPr/>
        </p:nvPicPr>
        <p:blipFill>
          <a:blip r:embed="rId4"/>
          <a:stretch>
            <a:fillRect/>
          </a:stretch>
        </p:blipFill>
        <p:spPr>
          <a:xfrm>
            <a:off x="11658600" y="6419088"/>
            <a:ext cx="292608" cy="29260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315200" cy="365760"/>
          </a:xfrm>
          <a:prstGeom prst="rect">
            <a:avLst/>
          </a:prstGeom>
          <a:noFill/>
        </p:spPr>
        <p:txBody>
          <a:bodyPr wrap="square" anchor="t">
            <a:spAutoFit/>
          </a:bodyPr>
          <a:lstStyle/>
          <a:p>
            <a:pPr algn="l">
              <a:lnSpc>
                <a:spcPct val="100000"/>
              </a:lnSpc>
              <a:spcAft>
                <a:spcPts val="600"/>
              </a:spcAft>
            </a:pPr>
            <a:r>
              <a:rPr sz="1300" b="1">
                <a:solidFill>
                  <a:srgbClr val="3B6EF6"/>
                </a:solidFill>
                <a:latin typeface="Inter"/>
              </a:rPr>
              <a:t>INPUT VALIDATION</a:t>
            </a:r>
          </a:p>
        </p:txBody>
      </p:sp>
      <p:sp>
        <p:nvSpPr>
          <p:cNvPr id="3" name="TextBox 2"/>
          <p:cNvSpPr txBox="1"/>
          <p:nvPr/>
        </p:nvSpPr>
        <p:spPr>
          <a:xfrm>
            <a:off x="411480" y="621792"/>
            <a:ext cx="11338560" cy="822960"/>
          </a:xfrm>
          <a:prstGeom prst="rect">
            <a:avLst/>
          </a:prstGeom>
          <a:noFill/>
        </p:spPr>
        <p:txBody>
          <a:bodyPr wrap="square" anchor="t">
            <a:spAutoFit/>
          </a:bodyPr>
          <a:lstStyle/>
          <a:p>
            <a:pPr algn="l">
              <a:lnSpc>
                <a:spcPct val="100000"/>
              </a:lnSpc>
              <a:spcAft>
                <a:spcPts val="600"/>
              </a:spcAft>
            </a:pPr>
            <a:r>
              <a:rPr sz="3400" b="1">
                <a:solidFill>
                  <a:srgbClr val="0F172A"/>
                </a:solidFill>
                <a:latin typeface="Inter"/>
              </a:rPr>
              <a:t>Checked twice: format, then meaning</a:t>
            </a:r>
          </a:p>
        </p:txBody>
      </p:sp>
      <p:sp>
        <p:nvSpPr>
          <p:cNvPr id="4" name="TextBox 3"/>
          <p:cNvSpPr txBox="1"/>
          <p:nvPr/>
        </p:nvSpPr>
        <p:spPr>
          <a:xfrm>
            <a:off x="411480" y="1481328"/>
            <a:ext cx="5577840" cy="365760"/>
          </a:xfrm>
          <a:prstGeom prst="rect">
            <a:avLst/>
          </a:prstGeom>
          <a:noFill/>
        </p:spPr>
        <p:txBody>
          <a:bodyPr wrap="square" anchor="t">
            <a:spAutoFit/>
          </a:bodyPr>
          <a:lstStyle/>
          <a:p>
            <a:pPr algn="l">
              <a:lnSpc>
                <a:spcPct val="100000"/>
              </a:lnSpc>
              <a:spcAft>
                <a:spcPts val="600"/>
              </a:spcAft>
            </a:pPr>
            <a:r>
              <a:rPr sz="1400" b="1">
                <a:solidFill>
                  <a:srgbClr val="3B6EF6"/>
                </a:solidFill>
                <a:latin typeface="Inter"/>
              </a:rPr>
              <a:t>SYNTACTIC</a:t>
            </a:r>
            <a:r>
              <a:rPr sz="1400" b="0">
                <a:solidFill>
                  <a:srgbClr val="64748B"/>
                </a:solidFill>
                <a:latin typeface="Inter"/>
              </a:rPr>
              <a:t>  Zod schemas — format</a:t>
            </a:r>
          </a:p>
        </p:txBody>
      </p:sp>
      <p:pic>
        <p:nvPicPr>
          <p:cNvPr id="5" name="Picture 4" descr="code-validation-syntactic.png"/>
          <p:cNvPicPr>
            <a:picLocks noChangeAspect="1"/>
          </p:cNvPicPr>
          <p:nvPr/>
        </p:nvPicPr>
        <p:blipFill>
          <a:blip r:embed="rId2"/>
          <a:stretch>
            <a:fillRect/>
          </a:stretch>
        </p:blipFill>
        <p:spPr>
          <a:xfrm>
            <a:off x="411480" y="2531307"/>
            <a:ext cx="5577840" cy="2435463"/>
          </a:xfrm>
          <a:prstGeom prst="rect">
            <a:avLst/>
          </a:prstGeom>
          <a:ln w="12700">
            <a:solidFill>
              <a:srgbClr val="E2E8F0"/>
            </a:solidFill>
          </a:ln>
          <a:effectLst/>
        </p:spPr>
      </p:pic>
      <p:sp>
        <p:nvSpPr>
          <p:cNvPr id="6" name="TextBox 5"/>
          <p:cNvSpPr txBox="1"/>
          <p:nvPr/>
        </p:nvSpPr>
        <p:spPr>
          <a:xfrm>
            <a:off x="6263640" y="1481328"/>
            <a:ext cx="5532120" cy="365760"/>
          </a:xfrm>
          <a:prstGeom prst="rect">
            <a:avLst/>
          </a:prstGeom>
          <a:noFill/>
        </p:spPr>
        <p:txBody>
          <a:bodyPr wrap="square" anchor="t">
            <a:spAutoFit/>
          </a:bodyPr>
          <a:lstStyle/>
          <a:p>
            <a:pPr algn="l">
              <a:lnSpc>
                <a:spcPct val="100000"/>
              </a:lnSpc>
              <a:spcAft>
                <a:spcPts val="600"/>
              </a:spcAft>
            </a:pPr>
            <a:r>
              <a:rPr sz="1400" b="1">
                <a:solidFill>
                  <a:srgbClr val="3B6EF6"/>
                </a:solidFill>
                <a:latin typeface="Inter"/>
              </a:rPr>
              <a:t>SEMANTIC</a:t>
            </a:r>
            <a:r>
              <a:rPr sz="1400" b="0">
                <a:solidFill>
                  <a:srgbClr val="64748B"/>
                </a:solidFill>
                <a:latin typeface="Inter"/>
              </a:rPr>
              <a:t>  server checks — meaning</a:t>
            </a:r>
          </a:p>
        </p:txBody>
      </p:sp>
      <p:pic>
        <p:nvPicPr>
          <p:cNvPr id="7" name="Picture 6" descr="code-validation-semantic.png"/>
          <p:cNvPicPr>
            <a:picLocks noChangeAspect="1"/>
          </p:cNvPicPr>
          <p:nvPr/>
        </p:nvPicPr>
        <p:blipFill>
          <a:blip r:embed="rId3"/>
          <a:stretch>
            <a:fillRect/>
          </a:stretch>
        </p:blipFill>
        <p:spPr>
          <a:xfrm>
            <a:off x="6506738" y="1874519"/>
            <a:ext cx="5045923" cy="3749039"/>
          </a:xfrm>
          <a:prstGeom prst="rect">
            <a:avLst/>
          </a:prstGeom>
          <a:ln w="12700">
            <a:solidFill>
              <a:srgbClr val="E2E8F0"/>
            </a:solidFill>
          </a:ln>
          <a:effectLst/>
        </p:spPr>
      </p:pic>
      <p:sp>
        <p:nvSpPr>
          <p:cNvPr id="8" name="TextBox 7"/>
          <p:cNvSpPr txBox="1"/>
          <p:nvPr/>
        </p:nvSpPr>
        <p:spPr>
          <a:xfrm>
            <a:off x="411480" y="5897880"/>
            <a:ext cx="11338560" cy="365760"/>
          </a:xfrm>
          <a:prstGeom prst="rect">
            <a:avLst/>
          </a:prstGeom>
          <a:noFill/>
        </p:spPr>
        <p:txBody>
          <a:bodyPr wrap="square" anchor="t">
            <a:spAutoFit/>
          </a:bodyPr>
          <a:lstStyle/>
          <a:p>
            <a:pPr algn="ctr">
              <a:lnSpc>
                <a:spcPct val="100000"/>
              </a:lnSpc>
              <a:spcAft>
                <a:spcPts val="600"/>
              </a:spcAft>
            </a:pPr>
            <a:r>
              <a:rPr sz="1300" b="1">
                <a:solidFill>
                  <a:srgbClr val="0F172A"/>
                </a:solidFill>
                <a:latin typeface="Inter"/>
              </a:rPr>
              <a:t>Rating 1–5 · content 10–2000 chars · UUIDs · duplicates → 409 · CAPTCHA re-verified · friendly errors, no crashes</a:t>
            </a:r>
          </a:p>
        </p:txBody>
      </p:sp>
      <p:sp>
        <p:nvSpPr>
          <p:cNvPr id="9" name="TextBox 8"/>
          <p:cNvSpPr txBox="1"/>
          <p:nvPr/>
        </p:nvSpPr>
        <p:spPr>
          <a:xfrm>
            <a:off x="411480" y="6473952"/>
            <a:ext cx="7315200" cy="320040"/>
          </a:xfrm>
          <a:prstGeom prst="rect">
            <a:avLst/>
          </a:prstGeom>
          <a:noFill/>
        </p:spPr>
        <p:txBody>
          <a:bodyPr wrap="square" anchor="t">
            <a:spAutoFit/>
          </a:bodyPr>
          <a:lstStyle/>
          <a:p>
            <a:pPr algn="l">
              <a:lnSpc>
                <a:spcPct val="100000"/>
              </a:lnSpc>
              <a:spcAft>
                <a:spcPts val="600"/>
              </a:spcAft>
            </a:pPr>
            <a:r>
              <a:rPr sz="1000" b="0">
                <a:solidFill>
                  <a:srgbClr val="64748B"/>
                </a:solidFill>
                <a:latin typeface="Inter"/>
              </a:rPr>
              <a:t>Pulse · FBLA Coding &amp; Programming 2025–26</a:t>
            </a:r>
          </a:p>
        </p:txBody>
      </p:sp>
      <p:sp>
        <p:nvSpPr>
          <p:cNvPr id="10" name="TextBox 9"/>
          <p:cNvSpPr txBox="1"/>
          <p:nvPr/>
        </p:nvSpPr>
        <p:spPr>
          <a:xfrm>
            <a:off x="11247120" y="6473952"/>
            <a:ext cx="548640" cy="320040"/>
          </a:xfrm>
          <a:prstGeom prst="rect">
            <a:avLst/>
          </a:prstGeom>
          <a:noFill/>
        </p:spPr>
        <p:txBody>
          <a:bodyPr wrap="square" anchor="t">
            <a:spAutoFit/>
          </a:bodyPr>
          <a:lstStyle/>
          <a:p>
            <a:pPr algn="r">
              <a:lnSpc>
                <a:spcPct val="100000"/>
              </a:lnSpc>
              <a:spcAft>
                <a:spcPts val="600"/>
              </a:spcAft>
            </a:pPr>
            <a:r>
              <a:rPr sz="1000" b="0">
                <a:solidFill>
                  <a:srgbClr val="64748B"/>
                </a:solidFill>
                <a:latin typeface="Inter"/>
              </a:rPr>
              <a:t>9</a:t>
            </a:r>
          </a:p>
        </p:txBody>
      </p:sp>
      <p:pic>
        <p:nvPicPr>
          <p:cNvPr id="11" name="Picture 10" descr="pulse-logo.png"/>
          <p:cNvPicPr>
            <a:picLocks noChangeAspect="1"/>
          </p:cNvPicPr>
          <p:nvPr/>
        </p:nvPicPr>
        <p:blipFill>
          <a:blip r:embed="rId4"/>
          <a:stretch>
            <a:fillRect/>
          </a:stretch>
        </p:blipFill>
        <p:spPr>
          <a:xfrm>
            <a:off x="11658600" y="6419088"/>
            <a:ext cx="292608" cy="29260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315200" cy="365760"/>
          </a:xfrm>
          <a:prstGeom prst="rect">
            <a:avLst/>
          </a:prstGeom>
          <a:noFill/>
        </p:spPr>
        <p:txBody>
          <a:bodyPr wrap="square" anchor="t">
            <a:spAutoFit/>
          </a:bodyPr>
          <a:lstStyle/>
          <a:p>
            <a:pPr algn="l">
              <a:lnSpc>
                <a:spcPct val="100000"/>
              </a:lnSpc>
              <a:spcAft>
                <a:spcPts val="600"/>
              </a:spcAft>
            </a:pPr>
            <a:r>
              <a:rPr sz="1300" b="1">
                <a:solidFill>
                  <a:srgbClr val="3B6EF6"/>
                </a:solidFill>
                <a:latin typeface="Inter"/>
              </a:rPr>
              <a:t>DATA STORAGE &amp; STRUCTURES</a:t>
            </a:r>
          </a:p>
        </p:txBody>
      </p:sp>
      <p:sp>
        <p:nvSpPr>
          <p:cNvPr id="3" name="TextBox 2"/>
          <p:cNvSpPr txBox="1"/>
          <p:nvPr/>
        </p:nvSpPr>
        <p:spPr>
          <a:xfrm>
            <a:off x="411480" y="621792"/>
            <a:ext cx="11338560" cy="822960"/>
          </a:xfrm>
          <a:prstGeom prst="rect">
            <a:avLst/>
          </a:prstGeom>
          <a:noFill/>
        </p:spPr>
        <p:txBody>
          <a:bodyPr wrap="square" anchor="t">
            <a:spAutoFit/>
          </a:bodyPr>
          <a:lstStyle/>
          <a:p>
            <a:pPr algn="l">
              <a:lnSpc>
                <a:spcPct val="100000"/>
              </a:lnSpc>
              <a:spcAft>
                <a:spcPts val="600"/>
              </a:spcAft>
            </a:pPr>
            <a:r>
              <a:rPr sz="3400" b="1">
                <a:solidFill>
                  <a:srgbClr val="0F172A"/>
                </a:solidFill>
                <a:latin typeface="Inter"/>
              </a:rPr>
              <a:t>Typed end to end</a:t>
            </a:r>
          </a:p>
        </p:txBody>
      </p:sp>
      <p:sp>
        <p:nvSpPr>
          <p:cNvPr id="4" name="Rounded Rectangle 3"/>
          <p:cNvSpPr/>
          <p:nvPr/>
        </p:nvSpPr>
        <p:spPr>
          <a:xfrm>
            <a:off x="411480" y="1691640"/>
            <a:ext cx="109728" cy="685800"/>
          </a:xfrm>
          <a:prstGeom prst="roundRect">
            <a:avLst>
              <a:gd name="adj" fmla="val 8000"/>
            </a:avLst>
          </a:prstGeom>
          <a:solidFill>
            <a:srgbClr val="3B6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91640"/>
            <a:ext cx="5120640" cy="365760"/>
          </a:xfrm>
          <a:prstGeom prst="rect">
            <a:avLst/>
          </a:prstGeom>
          <a:noFill/>
        </p:spPr>
        <p:txBody>
          <a:bodyPr wrap="square" anchor="t">
            <a:spAutoFit/>
          </a:bodyPr>
          <a:lstStyle/>
          <a:p>
            <a:pPr algn="l">
              <a:lnSpc>
                <a:spcPct val="100000"/>
              </a:lnSpc>
              <a:spcAft>
                <a:spcPts val="600"/>
              </a:spcAft>
            </a:pPr>
            <a:r>
              <a:rPr sz="1600" b="1">
                <a:solidFill>
                  <a:srgbClr val="0F172A"/>
                </a:solidFill>
                <a:latin typeface="Inter"/>
              </a:rPr>
              <a:t>Typed arrays of interface objects</a:t>
            </a:r>
          </a:p>
        </p:txBody>
      </p:sp>
      <p:sp>
        <p:nvSpPr>
          <p:cNvPr id="6" name="TextBox 5"/>
          <p:cNvSpPr txBox="1"/>
          <p:nvPr/>
        </p:nvSpPr>
        <p:spPr>
          <a:xfrm>
            <a:off x="685800" y="2039112"/>
            <a:ext cx="5120640" cy="365760"/>
          </a:xfrm>
          <a:prstGeom prst="rect">
            <a:avLst/>
          </a:prstGeom>
          <a:noFill/>
        </p:spPr>
        <p:txBody>
          <a:bodyPr wrap="square" anchor="t">
            <a:spAutoFit/>
          </a:bodyPr>
          <a:lstStyle/>
          <a:p>
            <a:pPr algn="l">
              <a:lnSpc>
                <a:spcPct val="100000"/>
              </a:lnSpc>
              <a:spcAft>
                <a:spcPts val="600"/>
              </a:spcAft>
            </a:pPr>
            <a:r>
              <a:rPr sz="1200" b="0">
                <a:solidFill>
                  <a:srgbClr val="64748B"/>
                </a:solidFill>
                <a:latin typeface="Inter"/>
              </a:rPr>
              <a:t>businesses, reviews, deals — compiler-enforced shape</a:t>
            </a:r>
          </a:p>
        </p:txBody>
      </p:sp>
      <p:sp>
        <p:nvSpPr>
          <p:cNvPr id="7" name="Rounded Rectangle 6"/>
          <p:cNvSpPr/>
          <p:nvPr/>
        </p:nvSpPr>
        <p:spPr>
          <a:xfrm>
            <a:off x="411480" y="2560320"/>
            <a:ext cx="109728" cy="685800"/>
          </a:xfrm>
          <a:prstGeom prst="roundRect">
            <a:avLst>
              <a:gd name="adj" fmla="val 8000"/>
            </a:avLst>
          </a:prstGeom>
          <a:solidFill>
            <a:srgbClr val="3B6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560320"/>
            <a:ext cx="5120640" cy="365760"/>
          </a:xfrm>
          <a:prstGeom prst="rect">
            <a:avLst/>
          </a:prstGeom>
          <a:noFill/>
        </p:spPr>
        <p:txBody>
          <a:bodyPr wrap="square" anchor="t">
            <a:spAutoFit/>
          </a:bodyPr>
          <a:lstStyle/>
          <a:p>
            <a:pPr algn="l">
              <a:lnSpc>
                <a:spcPct val="100000"/>
              </a:lnSpc>
              <a:spcAft>
                <a:spcPts val="600"/>
              </a:spcAft>
            </a:pPr>
            <a:r>
              <a:rPr sz="1600" b="1">
                <a:solidFill>
                  <a:srgbClr val="0F172A"/>
                </a:solidFill>
                <a:latin typeface="Inter"/>
              </a:rPr>
              <a:t>Module constants</a:t>
            </a:r>
          </a:p>
        </p:txBody>
      </p:sp>
      <p:sp>
        <p:nvSpPr>
          <p:cNvPr id="9" name="TextBox 8"/>
          <p:cNvSpPr txBox="1"/>
          <p:nvPr/>
        </p:nvSpPr>
        <p:spPr>
          <a:xfrm>
            <a:off x="685800" y="2907792"/>
            <a:ext cx="5120640" cy="365760"/>
          </a:xfrm>
          <a:prstGeom prst="rect">
            <a:avLst/>
          </a:prstGeom>
          <a:noFill/>
        </p:spPr>
        <p:txBody>
          <a:bodyPr wrap="square" anchor="t">
            <a:spAutoFit/>
          </a:bodyPr>
          <a:lstStyle/>
          <a:p>
            <a:pPr algn="l">
              <a:lnSpc>
                <a:spcPct val="100000"/>
              </a:lnSpc>
              <a:spcAft>
                <a:spcPts val="600"/>
              </a:spcAft>
            </a:pPr>
            <a:r>
              <a:rPr sz="1200" b="0">
                <a:solidFill>
                  <a:srgbClr val="64748B"/>
                </a:solidFill>
                <a:latin typeface="Inter"/>
              </a:rPr>
              <a:t>static data: categories, tiers</a:t>
            </a:r>
          </a:p>
        </p:txBody>
      </p:sp>
      <p:sp>
        <p:nvSpPr>
          <p:cNvPr id="10" name="Rounded Rectangle 9"/>
          <p:cNvSpPr/>
          <p:nvPr/>
        </p:nvSpPr>
        <p:spPr>
          <a:xfrm>
            <a:off x="411480" y="3429000"/>
            <a:ext cx="109728" cy="685800"/>
          </a:xfrm>
          <a:prstGeom prst="roundRect">
            <a:avLst>
              <a:gd name="adj" fmla="val 8000"/>
            </a:avLst>
          </a:prstGeom>
          <a:solidFill>
            <a:srgbClr val="3B6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429000"/>
            <a:ext cx="5120640" cy="365760"/>
          </a:xfrm>
          <a:prstGeom prst="rect">
            <a:avLst/>
          </a:prstGeom>
          <a:noFill/>
        </p:spPr>
        <p:txBody>
          <a:bodyPr wrap="square" anchor="t">
            <a:spAutoFit/>
          </a:bodyPr>
          <a:lstStyle/>
          <a:p>
            <a:pPr algn="l">
              <a:lnSpc>
                <a:spcPct val="100000"/>
              </a:lnSpc>
              <a:spcAft>
                <a:spcPts val="600"/>
              </a:spcAft>
            </a:pPr>
            <a:r>
              <a:rPr sz="1600" b="1">
                <a:solidFill>
                  <a:srgbClr val="0F172A"/>
                </a:solidFill>
                <a:latin typeface="Inter"/>
              </a:rPr>
              <a:t>Component state</a:t>
            </a:r>
          </a:p>
        </p:txBody>
      </p:sp>
      <p:sp>
        <p:nvSpPr>
          <p:cNvPr id="12" name="TextBox 11"/>
          <p:cNvSpPr txBox="1"/>
          <p:nvPr/>
        </p:nvSpPr>
        <p:spPr>
          <a:xfrm>
            <a:off x="685800" y="3776472"/>
            <a:ext cx="5120640" cy="365760"/>
          </a:xfrm>
          <a:prstGeom prst="rect">
            <a:avLst/>
          </a:prstGeom>
          <a:noFill/>
        </p:spPr>
        <p:txBody>
          <a:bodyPr wrap="square" anchor="t">
            <a:spAutoFit/>
          </a:bodyPr>
          <a:lstStyle/>
          <a:p>
            <a:pPr algn="l">
              <a:lnSpc>
                <a:spcPct val="100000"/>
              </a:lnSpc>
              <a:spcAft>
                <a:spcPts val="600"/>
              </a:spcAft>
            </a:pPr>
            <a:r>
              <a:rPr sz="1200" b="0">
                <a:solidFill>
                  <a:srgbClr val="64748B"/>
                </a:solidFill>
                <a:latin typeface="Inter"/>
              </a:rPr>
              <a:t>UI only: filters, sort order</a:t>
            </a:r>
          </a:p>
        </p:txBody>
      </p:sp>
      <p:sp>
        <p:nvSpPr>
          <p:cNvPr id="13" name="Rounded Rectangle 12"/>
          <p:cNvSpPr/>
          <p:nvPr/>
        </p:nvSpPr>
        <p:spPr>
          <a:xfrm>
            <a:off x="411480" y="4297679"/>
            <a:ext cx="109728" cy="685800"/>
          </a:xfrm>
          <a:prstGeom prst="roundRect">
            <a:avLst>
              <a:gd name="adj" fmla="val 8000"/>
            </a:avLst>
          </a:prstGeom>
          <a:solidFill>
            <a:srgbClr val="3B6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297679"/>
            <a:ext cx="5120640" cy="365760"/>
          </a:xfrm>
          <a:prstGeom prst="rect">
            <a:avLst/>
          </a:prstGeom>
          <a:noFill/>
        </p:spPr>
        <p:txBody>
          <a:bodyPr wrap="square" anchor="t">
            <a:spAutoFit/>
          </a:bodyPr>
          <a:lstStyle/>
          <a:p>
            <a:pPr algn="l">
              <a:lnSpc>
                <a:spcPct val="100000"/>
              </a:lnSpc>
              <a:spcAft>
                <a:spcPts val="600"/>
              </a:spcAft>
            </a:pPr>
            <a:r>
              <a:rPr sz="1600" b="1">
                <a:solidFill>
                  <a:srgbClr val="0F172A"/>
                </a:solidFill>
                <a:latin typeface="Inter"/>
              </a:rPr>
              <a:t>React Query cache</a:t>
            </a:r>
          </a:p>
        </p:txBody>
      </p:sp>
      <p:sp>
        <p:nvSpPr>
          <p:cNvPr id="15" name="TextBox 14"/>
          <p:cNvSpPr txBox="1"/>
          <p:nvPr/>
        </p:nvSpPr>
        <p:spPr>
          <a:xfrm>
            <a:off x="685800" y="4645151"/>
            <a:ext cx="5120640" cy="365760"/>
          </a:xfrm>
          <a:prstGeom prst="rect">
            <a:avLst/>
          </a:prstGeom>
          <a:noFill/>
        </p:spPr>
        <p:txBody>
          <a:bodyPr wrap="square" anchor="t">
            <a:spAutoFit/>
          </a:bodyPr>
          <a:lstStyle/>
          <a:p>
            <a:pPr algn="l">
              <a:lnSpc>
                <a:spcPct val="100000"/>
              </a:lnSpc>
              <a:spcAft>
                <a:spcPts val="600"/>
              </a:spcAft>
            </a:pPr>
            <a:r>
              <a:rPr sz="1200" b="0">
                <a:solidFill>
                  <a:srgbClr val="64748B"/>
                </a:solidFill>
                <a:latin typeface="Inter"/>
              </a:rPr>
              <a:t>server data, deduplicated, 24h TTL</a:t>
            </a:r>
          </a:p>
        </p:txBody>
      </p:sp>
      <p:sp>
        <p:nvSpPr>
          <p:cNvPr id="16" name="Rounded Rectangle 15"/>
          <p:cNvSpPr/>
          <p:nvPr/>
        </p:nvSpPr>
        <p:spPr>
          <a:xfrm>
            <a:off x="411480" y="5166360"/>
            <a:ext cx="109728" cy="685800"/>
          </a:xfrm>
          <a:prstGeom prst="roundRect">
            <a:avLst>
              <a:gd name="adj" fmla="val 8000"/>
            </a:avLst>
          </a:prstGeom>
          <a:solidFill>
            <a:srgbClr val="3B6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5166360"/>
            <a:ext cx="5120640" cy="365760"/>
          </a:xfrm>
          <a:prstGeom prst="rect">
            <a:avLst/>
          </a:prstGeom>
          <a:noFill/>
        </p:spPr>
        <p:txBody>
          <a:bodyPr wrap="square" anchor="t">
            <a:spAutoFit/>
          </a:bodyPr>
          <a:lstStyle/>
          <a:p>
            <a:pPr algn="l">
              <a:lnSpc>
                <a:spcPct val="100000"/>
              </a:lnSpc>
              <a:spcAft>
                <a:spcPts val="600"/>
              </a:spcAft>
            </a:pPr>
            <a:r>
              <a:rPr sz="1600" b="1">
                <a:solidFill>
                  <a:srgbClr val="0F172A"/>
                </a:solidFill>
                <a:latin typeface="Inter"/>
              </a:rPr>
              <a:t>PostgreSQL</a:t>
            </a:r>
          </a:p>
        </p:txBody>
      </p:sp>
      <p:sp>
        <p:nvSpPr>
          <p:cNvPr id="18" name="TextBox 17"/>
          <p:cNvSpPr txBox="1"/>
          <p:nvPr/>
        </p:nvSpPr>
        <p:spPr>
          <a:xfrm>
            <a:off x="685800" y="5513832"/>
            <a:ext cx="5120640" cy="365760"/>
          </a:xfrm>
          <a:prstGeom prst="rect">
            <a:avLst/>
          </a:prstGeom>
          <a:noFill/>
        </p:spPr>
        <p:txBody>
          <a:bodyPr wrap="square" anchor="t">
            <a:spAutoFit/>
          </a:bodyPr>
          <a:lstStyle/>
          <a:p>
            <a:pPr algn="l">
              <a:lnSpc>
                <a:spcPct val="100000"/>
              </a:lnSpc>
              <a:spcAft>
                <a:spcPts val="600"/>
              </a:spcAft>
            </a:pPr>
            <a:r>
              <a:rPr sz="1200" b="0">
                <a:solidFill>
                  <a:srgbClr val="64748B"/>
                </a:solidFill>
                <a:latin typeface="Inter"/>
              </a:rPr>
              <a:t>persistence — foreign keys, unique constraints, RLS</a:t>
            </a:r>
          </a:p>
        </p:txBody>
      </p:sp>
      <p:pic>
        <p:nvPicPr>
          <p:cNvPr id="19" name="Picture 18" descr="code-data-structures.png"/>
          <p:cNvPicPr>
            <a:picLocks noChangeAspect="1"/>
          </p:cNvPicPr>
          <p:nvPr/>
        </p:nvPicPr>
        <p:blipFill>
          <a:blip r:embed="rId2"/>
          <a:stretch>
            <a:fillRect/>
          </a:stretch>
        </p:blipFill>
        <p:spPr>
          <a:xfrm>
            <a:off x="6705059" y="1600200"/>
            <a:ext cx="4512121" cy="4297680"/>
          </a:xfrm>
          <a:prstGeom prst="rect">
            <a:avLst/>
          </a:prstGeom>
          <a:ln w="12700">
            <a:solidFill>
              <a:srgbClr val="E2E8F0"/>
            </a:solidFill>
          </a:ln>
          <a:effectLst/>
        </p:spPr>
      </p:pic>
      <p:sp>
        <p:nvSpPr>
          <p:cNvPr id="20" name="TextBox 19"/>
          <p:cNvSpPr txBox="1"/>
          <p:nvPr/>
        </p:nvSpPr>
        <p:spPr>
          <a:xfrm>
            <a:off x="6172200" y="5943600"/>
            <a:ext cx="5577840" cy="274320"/>
          </a:xfrm>
          <a:prstGeom prst="rect">
            <a:avLst/>
          </a:prstGeom>
          <a:noFill/>
        </p:spPr>
        <p:txBody>
          <a:bodyPr wrap="square" anchor="t">
            <a:spAutoFit/>
          </a:bodyPr>
          <a:lstStyle/>
          <a:p>
            <a:pPr algn="ctr">
              <a:lnSpc>
                <a:spcPct val="100000"/>
              </a:lnSpc>
              <a:spcAft>
                <a:spcPts val="600"/>
              </a:spcAft>
            </a:pPr>
            <a:r>
              <a:rPr sz="1100" b="0">
                <a:solidFill>
                  <a:srgbClr val="64748B"/>
                </a:solidFill>
                <a:latin typeface="Inter"/>
              </a:rPr>
              <a:t>types/business.ts — the Business interface</a:t>
            </a:r>
          </a:p>
        </p:txBody>
      </p:sp>
      <p:sp>
        <p:nvSpPr>
          <p:cNvPr id="21" name="TextBox 20"/>
          <p:cNvSpPr txBox="1"/>
          <p:nvPr/>
        </p:nvSpPr>
        <p:spPr>
          <a:xfrm>
            <a:off x="411480" y="6473952"/>
            <a:ext cx="7315200" cy="320040"/>
          </a:xfrm>
          <a:prstGeom prst="rect">
            <a:avLst/>
          </a:prstGeom>
          <a:noFill/>
        </p:spPr>
        <p:txBody>
          <a:bodyPr wrap="square" anchor="t">
            <a:spAutoFit/>
          </a:bodyPr>
          <a:lstStyle/>
          <a:p>
            <a:pPr algn="l">
              <a:lnSpc>
                <a:spcPct val="100000"/>
              </a:lnSpc>
              <a:spcAft>
                <a:spcPts val="600"/>
              </a:spcAft>
            </a:pPr>
            <a:r>
              <a:rPr sz="1000" b="0">
                <a:solidFill>
                  <a:srgbClr val="64748B"/>
                </a:solidFill>
                <a:latin typeface="Inter"/>
              </a:rPr>
              <a:t>Pulse · FBLA Coding &amp; Programming 2025–26</a:t>
            </a:r>
          </a:p>
        </p:txBody>
      </p:sp>
      <p:sp>
        <p:nvSpPr>
          <p:cNvPr id="22" name="TextBox 21"/>
          <p:cNvSpPr txBox="1"/>
          <p:nvPr/>
        </p:nvSpPr>
        <p:spPr>
          <a:xfrm>
            <a:off x="11247120" y="6473952"/>
            <a:ext cx="548640" cy="320040"/>
          </a:xfrm>
          <a:prstGeom prst="rect">
            <a:avLst/>
          </a:prstGeom>
          <a:noFill/>
        </p:spPr>
        <p:txBody>
          <a:bodyPr wrap="square" anchor="t">
            <a:spAutoFit/>
          </a:bodyPr>
          <a:lstStyle/>
          <a:p>
            <a:pPr algn="r">
              <a:lnSpc>
                <a:spcPct val="100000"/>
              </a:lnSpc>
              <a:spcAft>
                <a:spcPts val="600"/>
              </a:spcAft>
            </a:pPr>
            <a:r>
              <a:rPr sz="1000" b="0">
                <a:solidFill>
                  <a:srgbClr val="64748B"/>
                </a:solidFill>
                <a:latin typeface="Inter"/>
              </a:rPr>
              <a:t>10</a:t>
            </a:r>
          </a:p>
        </p:txBody>
      </p:sp>
      <p:pic>
        <p:nvPicPr>
          <p:cNvPr id="23" name="Picture 22" descr="pulse-logo.png"/>
          <p:cNvPicPr>
            <a:picLocks noChangeAspect="1"/>
          </p:cNvPicPr>
          <p:nvPr/>
        </p:nvPicPr>
        <p:blipFill>
          <a:blip r:embed="rId3"/>
          <a:stretch>
            <a:fillRect/>
          </a:stretch>
        </p:blipFill>
        <p:spPr>
          <a:xfrm>
            <a:off x="11658600" y="6419088"/>
            <a:ext cx="292608" cy="29260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7315200" cy="365760"/>
          </a:xfrm>
          <a:prstGeom prst="rect">
            <a:avLst/>
          </a:prstGeom>
          <a:noFill/>
        </p:spPr>
        <p:txBody>
          <a:bodyPr wrap="square" anchor="t">
            <a:spAutoFit/>
          </a:bodyPr>
          <a:lstStyle/>
          <a:p>
            <a:pPr algn="l">
              <a:lnSpc>
                <a:spcPct val="100000"/>
              </a:lnSpc>
              <a:spcAft>
                <a:spcPts val="600"/>
              </a:spcAft>
            </a:pPr>
            <a:r>
              <a:rPr sz="1300" b="1">
                <a:solidFill>
                  <a:srgbClr val="3B6EF6"/>
                </a:solidFill>
                <a:latin typeface="Inter"/>
              </a:rPr>
              <a:t>OUTPUT &amp; DATA ANALYSIS</a:t>
            </a:r>
          </a:p>
        </p:txBody>
      </p:sp>
      <p:sp>
        <p:nvSpPr>
          <p:cNvPr id="3" name="TextBox 2"/>
          <p:cNvSpPr txBox="1"/>
          <p:nvPr/>
        </p:nvSpPr>
        <p:spPr>
          <a:xfrm>
            <a:off x="411480" y="621792"/>
            <a:ext cx="11338560" cy="822960"/>
          </a:xfrm>
          <a:prstGeom prst="rect">
            <a:avLst/>
          </a:prstGeom>
          <a:noFill/>
        </p:spPr>
        <p:txBody>
          <a:bodyPr wrap="square" anchor="t">
            <a:spAutoFit/>
          </a:bodyPr>
          <a:lstStyle/>
          <a:p>
            <a:pPr algn="l">
              <a:lnSpc>
                <a:spcPct val="100000"/>
              </a:lnSpc>
              <a:spcAft>
                <a:spcPts val="600"/>
              </a:spcAft>
            </a:pPr>
            <a:r>
              <a:rPr sz="3400" b="1">
                <a:solidFill>
                  <a:srgbClr val="0F172A"/>
                </a:solidFill>
                <a:latin typeface="Inter"/>
              </a:rPr>
              <a:t>Reports users act on</a:t>
            </a:r>
          </a:p>
        </p:txBody>
      </p:sp>
      <p:pic>
        <p:nvPicPr>
          <p:cNvPr id="4" name="Picture 3" descr="app-impact-report.png"/>
          <p:cNvPicPr>
            <a:picLocks noChangeAspect="1"/>
          </p:cNvPicPr>
          <p:nvPr/>
        </p:nvPicPr>
        <p:blipFill>
          <a:blip r:embed="rId2"/>
          <a:stretch>
            <a:fillRect/>
          </a:stretch>
        </p:blipFill>
        <p:spPr>
          <a:xfrm>
            <a:off x="411480" y="1774507"/>
            <a:ext cx="6858000" cy="3857625"/>
          </a:xfrm>
          <a:prstGeom prst="rect">
            <a:avLst/>
          </a:prstGeom>
          <a:ln w="12700">
            <a:solidFill>
              <a:srgbClr val="E2E8F0"/>
            </a:solidFill>
          </a:ln>
          <a:effectLst/>
        </p:spPr>
      </p:pic>
      <p:sp>
        <p:nvSpPr>
          <p:cNvPr id="5" name="TextBox 4"/>
          <p:cNvSpPr txBox="1"/>
          <p:nvPr/>
        </p:nvSpPr>
        <p:spPr>
          <a:xfrm>
            <a:off x="411480" y="5852160"/>
            <a:ext cx="6858000" cy="274320"/>
          </a:xfrm>
          <a:prstGeom prst="rect">
            <a:avLst/>
          </a:prstGeom>
          <a:noFill/>
        </p:spPr>
        <p:txBody>
          <a:bodyPr wrap="square" anchor="t">
            <a:spAutoFit/>
          </a:bodyPr>
          <a:lstStyle/>
          <a:p>
            <a:pPr algn="ctr">
              <a:lnSpc>
                <a:spcPct val="100000"/>
              </a:lnSpc>
              <a:spcAft>
                <a:spcPts val="600"/>
              </a:spcAft>
            </a:pPr>
            <a:r>
              <a:rPr sz="1100" b="0">
                <a:solidFill>
                  <a:srgbClr val="64748B"/>
                </a:solidFill>
                <a:latin typeface="Inter"/>
              </a:rPr>
              <a:t>Impact report — date &amp; category filters, CSV export, print layout</a:t>
            </a:r>
          </a:p>
        </p:txBody>
      </p:sp>
      <p:pic>
        <p:nvPicPr>
          <p:cNvPr id="6" name="Picture 5" descr="app-dashboard.png"/>
          <p:cNvPicPr>
            <a:picLocks noChangeAspect="1"/>
          </p:cNvPicPr>
          <p:nvPr/>
        </p:nvPicPr>
        <p:blipFill>
          <a:blip r:embed="rId3"/>
          <a:stretch>
            <a:fillRect/>
          </a:stretch>
        </p:blipFill>
        <p:spPr>
          <a:xfrm>
            <a:off x="7543800" y="1730216"/>
            <a:ext cx="4251960" cy="2391727"/>
          </a:xfrm>
          <a:prstGeom prst="rect">
            <a:avLst/>
          </a:prstGeom>
          <a:ln w="12700">
            <a:solidFill>
              <a:srgbClr val="E2E8F0"/>
            </a:solidFill>
          </a:ln>
          <a:effectLst/>
        </p:spPr>
      </p:pic>
      <p:sp>
        <p:nvSpPr>
          <p:cNvPr id="7" name="TextBox 6"/>
          <p:cNvSpPr txBox="1"/>
          <p:nvPr/>
        </p:nvSpPr>
        <p:spPr>
          <a:xfrm>
            <a:off x="7543800" y="4279392"/>
            <a:ext cx="4251960" cy="274320"/>
          </a:xfrm>
          <a:prstGeom prst="rect">
            <a:avLst/>
          </a:prstGeom>
          <a:noFill/>
        </p:spPr>
        <p:txBody>
          <a:bodyPr wrap="square" anchor="t">
            <a:spAutoFit/>
          </a:bodyPr>
          <a:lstStyle/>
          <a:p>
            <a:pPr algn="ctr">
              <a:lnSpc>
                <a:spcPct val="100000"/>
              </a:lnSpc>
              <a:spcAft>
                <a:spcPts val="600"/>
              </a:spcAft>
            </a:pPr>
            <a:r>
              <a:rPr sz="1100" b="0">
                <a:solidFill>
                  <a:srgbClr val="64748B"/>
                </a:solidFill>
                <a:latin typeface="Inter"/>
              </a:rPr>
              <a:t>Live impact dashboard</a:t>
            </a:r>
          </a:p>
        </p:txBody>
      </p:sp>
      <p:sp>
        <p:nvSpPr>
          <p:cNvPr id="8" name="TextBox 7"/>
          <p:cNvSpPr txBox="1"/>
          <p:nvPr/>
        </p:nvSpPr>
        <p:spPr>
          <a:xfrm>
            <a:off x="7543800" y="4754880"/>
            <a:ext cx="4251960" cy="1188720"/>
          </a:xfrm>
          <a:prstGeom prst="rect">
            <a:avLst/>
          </a:prstGeom>
          <a:noFill/>
        </p:spPr>
        <p:txBody>
          <a:bodyPr wrap="square" anchor="t">
            <a:spAutoFit/>
          </a:bodyPr>
          <a:lstStyle/>
          <a:p>
            <a:pPr algn="ctr">
              <a:lnSpc>
                <a:spcPct val="100000"/>
              </a:lnSpc>
              <a:spcAft>
                <a:spcPts val="600"/>
              </a:spcAft>
            </a:pPr>
            <a:r>
              <a:rPr sz="3000" b="1">
                <a:solidFill>
                  <a:srgbClr val="3B6EF6"/>
                </a:solidFill>
                <a:latin typeface="Inter"/>
              </a:rPr>
              <a:t>$1,840</a:t>
            </a:r>
            <a:r>
              <a:rPr sz="1600" b="0">
                <a:solidFill>
                  <a:srgbClr val="0F172A"/>
                </a:solidFill>
                <a:latin typeface="Inter"/>
              </a:rPr>
              <a:t>  kept local</a:t>
            </a:r>
          </a:p>
          <a:p>
            <a:pPr algn="ctr">
              <a:lnSpc>
                <a:spcPct val="100000"/>
              </a:lnSpc>
              <a:spcAft>
                <a:spcPts val="600"/>
              </a:spcAft>
            </a:pPr>
            <a:r>
              <a:rPr sz="1300" b="0">
                <a:solidFill>
                  <a:srgbClr val="64748B"/>
                </a:solidFill>
                <a:latin typeface="Inter"/>
              </a:rPr>
              <a:t>14 businesses · 26 check-ins · 2 jobs</a:t>
            </a:r>
          </a:p>
        </p:txBody>
      </p:sp>
      <p:sp>
        <p:nvSpPr>
          <p:cNvPr id="9" name="TextBox 8"/>
          <p:cNvSpPr txBox="1"/>
          <p:nvPr/>
        </p:nvSpPr>
        <p:spPr>
          <a:xfrm>
            <a:off x="411480" y="6473952"/>
            <a:ext cx="7315200" cy="320040"/>
          </a:xfrm>
          <a:prstGeom prst="rect">
            <a:avLst/>
          </a:prstGeom>
          <a:noFill/>
        </p:spPr>
        <p:txBody>
          <a:bodyPr wrap="square" anchor="t">
            <a:spAutoFit/>
          </a:bodyPr>
          <a:lstStyle/>
          <a:p>
            <a:pPr algn="l">
              <a:lnSpc>
                <a:spcPct val="100000"/>
              </a:lnSpc>
              <a:spcAft>
                <a:spcPts val="600"/>
              </a:spcAft>
            </a:pPr>
            <a:r>
              <a:rPr sz="1000" b="0">
                <a:solidFill>
                  <a:srgbClr val="64748B"/>
                </a:solidFill>
                <a:latin typeface="Inter"/>
              </a:rPr>
              <a:t>Pulse · FBLA Coding &amp; Programming 2025–26</a:t>
            </a:r>
          </a:p>
        </p:txBody>
      </p:sp>
      <p:sp>
        <p:nvSpPr>
          <p:cNvPr id="10" name="TextBox 9"/>
          <p:cNvSpPr txBox="1"/>
          <p:nvPr/>
        </p:nvSpPr>
        <p:spPr>
          <a:xfrm>
            <a:off x="11247120" y="6473952"/>
            <a:ext cx="548640" cy="320040"/>
          </a:xfrm>
          <a:prstGeom prst="rect">
            <a:avLst/>
          </a:prstGeom>
          <a:noFill/>
        </p:spPr>
        <p:txBody>
          <a:bodyPr wrap="square" anchor="t">
            <a:spAutoFit/>
          </a:bodyPr>
          <a:lstStyle/>
          <a:p>
            <a:pPr algn="r">
              <a:lnSpc>
                <a:spcPct val="100000"/>
              </a:lnSpc>
              <a:spcAft>
                <a:spcPts val="600"/>
              </a:spcAft>
            </a:pPr>
            <a:r>
              <a:rPr sz="1000" b="0">
                <a:solidFill>
                  <a:srgbClr val="64748B"/>
                </a:solidFill>
                <a:latin typeface="Inter"/>
              </a:rPr>
              <a:t>11</a:t>
            </a:r>
          </a:p>
        </p:txBody>
      </p:sp>
      <p:pic>
        <p:nvPicPr>
          <p:cNvPr id="11" name="Picture 10" descr="pulse-logo.png"/>
          <p:cNvPicPr>
            <a:picLocks noChangeAspect="1"/>
          </p:cNvPicPr>
          <p:nvPr/>
        </p:nvPicPr>
        <p:blipFill>
          <a:blip r:embed="rId4"/>
          <a:stretch>
            <a:fillRect/>
          </a:stretch>
        </p:blipFill>
        <p:spPr>
          <a:xfrm>
            <a:off x="11658600" y="6419088"/>
            <a:ext cx="292608" cy="29260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164592"/>
          </a:xfrm>
          <a:prstGeom prst="roundRect">
            <a:avLst>
              <a:gd name="adj" fmla="val 8000"/>
            </a:avLst>
          </a:prstGeom>
          <a:solidFill>
            <a:srgbClr val="3B6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ulse-logo.png"/>
          <p:cNvPicPr>
            <a:picLocks noChangeAspect="1"/>
          </p:cNvPicPr>
          <p:nvPr/>
        </p:nvPicPr>
        <p:blipFill>
          <a:blip r:embed="rId2"/>
          <a:stretch>
            <a:fillRect/>
          </a:stretch>
        </p:blipFill>
        <p:spPr>
          <a:xfrm>
            <a:off x="5641848" y="1371600"/>
            <a:ext cx="914400" cy="914400"/>
          </a:xfrm>
          <a:prstGeom prst="rect">
            <a:avLst/>
          </a:prstGeom>
        </p:spPr>
      </p:pic>
      <p:sp>
        <p:nvSpPr>
          <p:cNvPr id="4" name="TextBox 3"/>
          <p:cNvSpPr txBox="1"/>
          <p:nvPr/>
        </p:nvSpPr>
        <p:spPr>
          <a:xfrm>
            <a:off x="1463040" y="2560320"/>
            <a:ext cx="9262872" cy="822960"/>
          </a:xfrm>
          <a:prstGeom prst="rect">
            <a:avLst/>
          </a:prstGeom>
          <a:noFill/>
        </p:spPr>
        <p:txBody>
          <a:bodyPr wrap="square" anchor="t">
            <a:spAutoFit/>
          </a:bodyPr>
          <a:lstStyle/>
          <a:p>
            <a:pPr algn="ctr">
              <a:lnSpc>
                <a:spcPct val="100000"/>
              </a:lnSpc>
              <a:spcAft>
                <a:spcPts val="600"/>
              </a:spcAft>
            </a:pPr>
            <a:r>
              <a:rPr sz="4000" b="1">
                <a:solidFill>
                  <a:srgbClr val="0F172A"/>
                </a:solidFill>
                <a:latin typeface="Inter"/>
              </a:rPr>
              <a:t>A byte-sized business boost</a:t>
            </a:r>
          </a:p>
        </p:txBody>
      </p:sp>
      <p:sp>
        <p:nvSpPr>
          <p:cNvPr id="5" name="TextBox 4"/>
          <p:cNvSpPr txBox="1"/>
          <p:nvPr/>
        </p:nvSpPr>
        <p:spPr>
          <a:xfrm>
            <a:off x="1463040" y="3474720"/>
            <a:ext cx="9262872" cy="457200"/>
          </a:xfrm>
          <a:prstGeom prst="rect">
            <a:avLst/>
          </a:prstGeom>
          <a:noFill/>
        </p:spPr>
        <p:txBody>
          <a:bodyPr wrap="square" anchor="t">
            <a:spAutoFit/>
          </a:bodyPr>
          <a:lstStyle/>
          <a:p>
            <a:pPr algn="ctr">
              <a:lnSpc>
                <a:spcPct val="100000"/>
              </a:lnSpc>
              <a:spcAft>
                <a:spcPts val="600"/>
              </a:spcAft>
            </a:pPr>
            <a:r>
              <a:rPr sz="1600" b="0">
                <a:solidFill>
                  <a:srgbClr val="64748B"/>
                </a:solidFill>
                <a:latin typeface="Inter"/>
              </a:rPr>
              <a:t>Six required features · one intelligent assistant · measurable community impact</a:t>
            </a:r>
          </a:p>
        </p:txBody>
      </p:sp>
      <p:sp>
        <p:nvSpPr>
          <p:cNvPr id="6" name="TextBox 5"/>
          <p:cNvSpPr txBox="1"/>
          <p:nvPr/>
        </p:nvSpPr>
        <p:spPr>
          <a:xfrm>
            <a:off x="1463040" y="4434840"/>
            <a:ext cx="9262872" cy="731520"/>
          </a:xfrm>
          <a:prstGeom prst="rect">
            <a:avLst/>
          </a:prstGeom>
          <a:noFill/>
        </p:spPr>
        <p:txBody>
          <a:bodyPr wrap="square" anchor="t">
            <a:spAutoFit/>
          </a:bodyPr>
          <a:lstStyle/>
          <a:p>
            <a:pPr algn="ctr">
              <a:lnSpc>
                <a:spcPct val="100000"/>
              </a:lnSpc>
              <a:spcAft>
                <a:spcPts val="600"/>
              </a:spcAft>
            </a:pPr>
            <a:r>
              <a:rPr sz="3000" b="1">
                <a:solidFill>
                  <a:srgbClr val="3B6EF6"/>
                </a:solidFill>
                <a:latin typeface="Inter"/>
              </a:rPr>
              <a:t>Questions?</a:t>
            </a:r>
          </a:p>
        </p:txBody>
      </p:sp>
      <p:sp>
        <p:nvSpPr>
          <p:cNvPr id="7" name="TextBox 6"/>
          <p:cNvSpPr txBox="1"/>
          <p:nvPr/>
        </p:nvSpPr>
        <p:spPr>
          <a:xfrm>
            <a:off x="1463040" y="5394960"/>
            <a:ext cx="9262872" cy="365760"/>
          </a:xfrm>
          <a:prstGeom prst="rect">
            <a:avLst/>
          </a:prstGeom>
          <a:noFill/>
        </p:spPr>
        <p:txBody>
          <a:bodyPr wrap="square" anchor="t">
            <a:spAutoFit/>
          </a:bodyPr>
          <a:lstStyle/>
          <a:p>
            <a:pPr algn="ctr">
              <a:lnSpc>
                <a:spcPct val="100000"/>
              </a:lnSpc>
              <a:spcAft>
                <a:spcPts val="600"/>
              </a:spcAft>
            </a:pPr>
            <a:r>
              <a:rPr sz="1300" b="0">
                <a:solidFill>
                  <a:srgbClr val="64748B"/>
                </a:solidFill>
                <a:latin typeface="Inter"/>
              </a:rPr>
              <a:t>Felix Yin · Oscar Gao · Matthew Heng — Diamond Bar FBLA</a:t>
            </a:r>
          </a:p>
        </p:txBody>
      </p:sp>
      <p:sp>
        <p:nvSpPr>
          <p:cNvPr id="8" name="TextBox 7"/>
          <p:cNvSpPr txBox="1"/>
          <p:nvPr/>
        </p:nvSpPr>
        <p:spPr>
          <a:xfrm>
            <a:off x="411480" y="6473952"/>
            <a:ext cx="7315200" cy="320040"/>
          </a:xfrm>
          <a:prstGeom prst="rect">
            <a:avLst/>
          </a:prstGeom>
          <a:noFill/>
        </p:spPr>
        <p:txBody>
          <a:bodyPr wrap="square" anchor="t">
            <a:spAutoFit/>
          </a:bodyPr>
          <a:lstStyle/>
          <a:p>
            <a:pPr algn="l">
              <a:lnSpc>
                <a:spcPct val="100000"/>
              </a:lnSpc>
              <a:spcAft>
                <a:spcPts val="600"/>
              </a:spcAft>
            </a:pPr>
            <a:r>
              <a:rPr sz="1000" b="0">
                <a:solidFill>
                  <a:srgbClr val="64748B"/>
                </a:solidFill>
                <a:latin typeface="Inter"/>
              </a:rPr>
              <a:t>Pulse · FBLA Coding &amp; Programming 2025–26</a:t>
            </a:r>
          </a:p>
        </p:txBody>
      </p:sp>
      <p:sp>
        <p:nvSpPr>
          <p:cNvPr id="9" name="TextBox 8"/>
          <p:cNvSpPr txBox="1"/>
          <p:nvPr/>
        </p:nvSpPr>
        <p:spPr>
          <a:xfrm>
            <a:off x="11247120" y="6473952"/>
            <a:ext cx="548640" cy="320040"/>
          </a:xfrm>
          <a:prstGeom prst="rect">
            <a:avLst/>
          </a:prstGeom>
          <a:noFill/>
        </p:spPr>
        <p:txBody>
          <a:bodyPr wrap="square" anchor="t">
            <a:spAutoFit/>
          </a:bodyPr>
          <a:lstStyle/>
          <a:p>
            <a:pPr algn="r">
              <a:lnSpc>
                <a:spcPct val="100000"/>
              </a:lnSpc>
              <a:spcAft>
                <a:spcPts val="600"/>
              </a:spcAft>
            </a:pPr>
            <a:r>
              <a:rPr sz="1000" b="0">
                <a:solidFill>
                  <a:srgbClr val="64748B"/>
                </a:solidFill>
                <a:latin typeface="Inter"/>
              </a:rPr>
              <a:t>12</a:t>
            </a:r>
          </a:p>
        </p:txBody>
      </p:sp>
      <p:pic>
        <p:nvPicPr>
          <p:cNvPr id="10" name="Picture 9" descr="pulse-logo.png"/>
          <p:cNvPicPr>
            <a:picLocks noChangeAspect="1"/>
          </p:cNvPicPr>
          <p:nvPr/>
        </p:nvPicPr>
        <p:blipFill>
          <a:blip r:embed="rId2"/>
          <a:stretch>
            <a:fillRect/>
          </a:stretch>
        </p:blipFill>
        <p:spPr>
          <a:xfrm>
            <a:off x="11658600" y="6419088"/>
            <a:ext cx="292608" cy="2926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